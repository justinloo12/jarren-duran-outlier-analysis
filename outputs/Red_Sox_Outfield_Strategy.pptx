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310896" cy="310896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5486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9D2E3"/>
                </a:solidFill>
                <a:latin typeface="Arial"/>
              </a:rPr>
              <a:t>BOSTON RED SOX  ·  TRADE DEADLINE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965960"/>
            <a:ext cx="110642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4600" b="1" i="0">
                <a:solidFill>
                  <a:srgbClr val="F4F7FC"/>
                </a:solidFill>
                <a:latin typeface="Arial"/>
              </a:rPr>
              <a:t>They Won 13 Straight.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4600" b="1" i="0">
                <a:solidFill>
                  <a:srgbClr val="E8615A"/>
                </a:solidFill>
                <a:latin typeface="Arial"/>
              </a:rPr>
              <a:t>Now Comes the Hard Part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977639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700" b="0" i="0">
                <a:solidFill>
                  <a:srgbClr val="D3D9E6"/>
                </a:solidFill>
                <a:latin typeface="Arial"/>
              </a:rPr>
              <a:t>The hottest team in baseball was supposed to sell. A deadline case study: why the run differential saw the streak coming, what Boston should buy — and why the left fielder is the whole season in miniature.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0350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8C97AC"/>
                </a:solidFill>
                <a:latin typeface="Arial"/>
              </a:rPr>
              <a:t>A data-driven roster case study · 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The hottest team in baseball — and the math saw it coming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3502152" cy="21488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084831"/>
            <a:ext cx="30449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E8615A"/>
                </a:solidFill>
                <a:latin typeface="Arial"/>
              </a:rPr>
              <a:t>W13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7" y="2999232"/>
            <a:ext cx="2999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AF0F8"/>
                </a:solidFill>
                <a:latin typeface="Arial"/>
              </a:rPr>
              <a:t>winning streak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3346704"/>
            <a:ext cx="29992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93A0B6"/>
                </a:solidFill>
                <a:latin typeface="Arial"/>
              </a:rPr>
              <a:t>longest run in the majors this season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1874519"/>
            <a:ext cx="3502152" cy="21488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08576" y="2084831"/>
            <a:ext cx="30449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EAF0F8"/>
                </a:solidFill>
                <a:latin typeface="Arial"/>
              </a:rPr>
              <a:t>+45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26864" y="2999232"/>
            <a:ext cx="2999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AF0F8"/>
                </a:solidFill>
                <a:latin typeface="Arial"/>
              </a:rPr>
              <a:t>run differential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6864" y="3346704"/>
            <a:ext cx="29992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93A0B6"/>
                </a:solidFill>
                <a:latin typeface="Arial"/>
              </a:rPr>
              <a:t>a Pythagorean .553 team wearing a .510 record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59" y="1874519"/>
            <a:ext cx="3502152" cy="21488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94191" y="2084831"/>
            <a:ext cx="30449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EAF0F8"/>
                </a:solidFill>
                <a:latin typeface="Arial"/>
              </a:rPr>
              <a:t>75%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2999232"/>
            <a:ext cx="2999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AF0F8"/>
                </a:solidFill>
                <a:latin typeface="Arial"/>
              </a:rPr>
              <a:t>playoff odds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346704"/>
            <a:ext cx="29992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93A0B6"/>
                </a:solidFill>
                <a:latin typeface="Arial"/>
              </a:rPr>
              <a:t>10,000 sims — holding the final wild card (fig. 12)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4343400"/>
            <a:ext cx="110642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1" i="0">
                <a:solidFill>
                  <a:srgbClr val="D9E1EF"/>
                </a:solidFill>
                <a:latin typeface="Arial"/>
              </a:rPr>
              <a:t>A month ago the easy take was sell. </a:t>
            </a:r>
            <a:r>
              <a:rPr sz="1500" b="0" i="0">
                <a:solidFill>
                  <a:srgbClr val="D9E1EF"/>
                </a:solidFill>
                <a:latin typeface="Arial"/>
              </a:rPr>
              <a:t>But the record was lying — the run differential said so all along, and the streak is the correction arriving. The outfield jam, still </a:t>
            </a:r>
            <a:r>
              <a:rPr sz="1500" b="1" i="0">
                <a:solidFill>
                  <a:srgbClr val="E8615A"/>
                </a:solidFill>
                <a:latin typeface="Arial"/>
              </a:rPr>
              <a:t>masked by Roman Anthony's injury</a:t>
            </a:r>
            <a:r>
              <a:rPr sz="1500" b="0" i="0">
                <a:solidFill>
                  <a:srgbClr val="D9E1EF"/>
                </a:solidFill>
                <a:latin typeface="Arial"/>
              </a:rPr>
              <a:t>, is now a buyer's depth chart: the surplus funds the deadline instead of a teardown.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VERDICT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BUY — but buy like the math, not like a panic</a:t>
            </a:r>
          </a:p>
        </p:txBody>
      </p:sp>
      <p:pic>
        <p:nvPicPr>
          <p:cNvPr id="4" name="Picture 3" descr="12_playoff_r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305" y="1554480"/>
            <a:ext cx="6814108" cy="42062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81965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783080"/>
            <a:ext cx="374903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50" b="1" i="0">
                <a:solidFill>
                  <a:srgbClr val="EAF0F8"/>
                </a:solidFill>
                <a:latin typeface="Arial"/>
              </a:rPr>
              <a:t>Hold Duran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0" i="0">
                <a:solidFill>
                  <a:srgbClr val="93A0B6"/>
                </a:solidFill>
                <a:latin typeface="Arial"/>
              </a:rPr>
              <a:t>Value at its nadir; his July contact (~.35 xwOBA) is already surging. Re-price in winter.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314553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3108960"/>
            <a:ext cx="374903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50" b="1" i="0">
                <a:solidFill>
                  <a:srgbClr val="EAF0F8"/>
                </a:solidFill>
                <a:latin typeface="Arial"/>
              </a:rPr>
              <a:t>Keep the vets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0" i="0">
                <a:solidFill>
                  <a:srgbClr val="93A0B6"/>
                </a:solidFill>
                <a:latin typeface="Arial"/>
              </a:rPr>
              <a:t>Gray, Chapman, Contreras are playoff innings now. Sell branch reopens only if the gap blows out by Aug 1.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47141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4434840"/>
            <a:ext cx="374903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50" b="1" i="0">
                <a:solidFill>
                  <a:srgbClr val="EAF0F8"/>
                </a:solidFill>
                <a:latin typeface="Arial"/>
              </a:rPr>
              <a:t>Add small, without disturbing the room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0" i="0">
                <a:solidFill>
                  <a:srgbClr val="93A0B6"/>
                </a:solidFill>
                <a:latin typeface="Arial"/>
              </a:rPr>
              <a:t>A reliever first, maybe an infield bat — prospects before big-leaguers, empty spots before hot ones. The catcher tandem stays.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0" y="5779007"/>
            <a:ext cx="374903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1" i="1">
                <a:solidFill>
                  <a:srgbClr val="E8615A"/>
                </a:solidFill>
                <a:latin typeface="Arial"/>
              </a:rPr>
              <a:t>The team is its left fielder: process better than results.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KEEP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The young, cheap, controllable core — that's the 2027 outfield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3502152" cy="356616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7" y="2011680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EAF0F8"/>
                </a:solidFill>
                <a:latin typeface="Arial"/>
              </a:rPr>
              <a:t>Roman Anthony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7" y="2487168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E8615A"/>
                </a:solidFill>
                <a:latin typeface="Arial"/>
              </a:rPr>
              <a:t>LF · age 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971800"/>
            <a:ext cx="29992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58C08D"/>
                </a:solidFill>
                <a:latin typeface="Arial"/>
              </a:rPr>
              <a:t>3.8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3822191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93A0B6"/>
                </a:solidFill>
                <a:latin typeface="Arial"/>
              </a:rPr>
              <a:t>projected WAR / yr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4160520"/>
            <a:ext cx="29992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D9E1EF"/>
                </a:solidFill>
                <a:latin typeface="Arial"/>
              </a:rPr>
              <a:t>$2.6M · 8yr/$130M 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4526280"/>
            <a:ext cx="299923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 i="0">
                <a:solidFill>
                  <a:srgbClr val="93A0B6"/>
                </a:solidFill>
                <a:latin typeface="Arial"/>
              </a:rPr>
              <a:t>Franchise bat. Untouchable. On the IL now, back in 2027.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52544" y="1783080"/>
            <a:ext cx="3502152" cy="356616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26864" y="2011680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EAF0F8"/>
                </a:solidFill>
                <a:latin typeface="Arial"/>
              </a:rPr>
              <a:t>Ceddanne Rafaela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26864" y="2487168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E8615A"/>
                </a:solidFill>
                <a:latin typeface="Arial"/>
              </a:rPr>
              <a:t>CF · age 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6864" y="2971800"/>
            <a:ext cx="29992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58C08D"/>
                </a:solidFill>
                <a:latin typeface="Arial"/>
              </a:rPr>
              <a:t>3.2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3822191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93A0B6"/>
                </a:solidFill>
                <a:latin typeface="Arial"/>
              </a:rPr>
              <a:t>projected WAR / yr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6864" y="4160520"/>
            <a:ext cx="29992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D9E1EF"/>
                </a:solidFill>
                <a:latin typeface="Arial"/>
              </a:rPr>
              <a:t>$2.0M · 8yr/$50M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6864" y="4526280"/>
            <a:ext cx="299923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 i="0">
                <a:solidFill>
                  <a:srgbClr val="93A0B6"/>
                </a:solidFill>
                <a:latin typeface="Arial"/>
              </a:rPr>
              <a:t>Elite center-field glove + SS/utility flex. Premium position, controlled cheap.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59" y="1783080"/>
            <a:ext cx="3502152" cy="356616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0" y="2011680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EAF0F8"/>
                </a:solidFill>
                <a:latin typeface="Arial"/>
              </a:rPr>
              <a:t>Wilyer Abreu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2487168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E8615A"/>
                </a:solidFill>
                <a:latin typeface="Arial"/>
              </a:rPr>
              <a:t>RF · age 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2971800"/>
            <a:ext cx="29992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58C08D"/>
                </a:solidFill>
                <a:latin typeface="Arial"/>
              </a:rPr>
              <a:t>2.8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3822191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93A0B6"/>
                </a:solidFill>
                <a:latin typeface="Arial"/>
              </a:rPr>
              <a:t>projected WAR / yr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4160520"/>
            <a:ext cx="29992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D9E1EF"/>
                </a:solidFill>
                <a:latin typeface="Arial"/>
              </a:rPr>
              <a:t>$0.8M · pre-arb → 2029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4526280"/>
            <a:ext cx="299923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 i="0">
                <a:solidFill>
                  <a:srgbClr val="93A0B6"/>
                </a:solidFill>
                <a:latin typeface="Arial"/>
              </a:rPr>
              <a:t>Best surplus on the roster: plus RF glove, above-average LH bat.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553212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1">
                <a:solidFill>
                  <a:srgbClr val="EAF0F8"/>
                </a:solidFill>
                <a:latin typeface="Arial"/>
              </a:rPr>
              <a:t>Three spots, locked. Everything else flexes around them.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MOVE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The two that don't fit: a redundant bat and a dead contract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5358384" cy="361188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2029968"/>
            <a:ext cx="48097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EAF0F8"/>
                </a:solidFill>
                <a:latin typeface="Arial"/>
              </a:rPr>
              <a:t>Jarren Duran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2542032"/>
            <a:ext cx="48097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E8615A"/>
                </a:solidFill>
                <a:latin typeface="Arial"/>
              </a:rPr>
              <a:t>LF/CF · 29 · $7.7M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9536" y="3108960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063240"/>
            <a:ext cx="448970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 i="0">
                <a:solidFill>
                  <a:srgbClr val="D9E1EF"/>
                </a:solidFill>
                <a:latin typeface="Arial"/>
              </a:rPr>
              <a:t>Movable piece — later. </a:t>
            </a:r>
            <a:r>
              <a:rPr sz="1300" b="0" i="0">
                <a:solidFill>
                  <a:srgbClr val="93A0B6"/>
                </a:solidFill>
                <a:latin typeface="Arial"/>
              </a:rPr>
              <a:t>Controllable through 2028; above-average at true talent (~110 wRC+). Redundant behind the core and the priciest of the young group.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" y="4251959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448970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 i="0">
                <a:solidFill>
                  <a:srgbClr val="D9E1EF"/>
                </a:solidFill>
                <a:latin typeface="Arial"/>
              </a:rPr>
              <a:t>Hold at the deadline. </a:t>
            </a:r>
            <a:r>
              <a:rPr sz="1300" b="0" i="0">
                <a:solidFill>
                  <a:srgbClr val="93A0B6"/>
                </a:solidFill>
                <a:latin typeface="Arial"/>
              </a:rPr>
              <a:t>Value at its nadir; xstats say the market under-prices him. Re-price in winter, after the rebound shows (or doesn't).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7064" y="1783080"/>
            <a:ext cx="5358384" cy="361188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9672" y="2029968"/>
            <a:ext cx="48097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EAF0F8"/>
                </a:solidFill>
                <a:latin typeface="Arial"/>
              </a:rPr>
              <a:t>Masataka Yoshida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9672" y="2542032"/>
            <a:ext cx="48097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93A0B6"/>
                </a:solidFill>
                <a:latin typeface="Arial"/>
              </a:rPr>
              <a:t>DH · 32 · $18.6M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19672" y="3108960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93A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57416" y="3063240"/>
            <a:ext cx="448970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 i="0">
                <a:solidFill>
                  <a:srgbClr val="D9E1EF"/>
                </a:solidFill>
                <a:latin typeface="Arial"/>
              </a:rPr>
              <a:t>Dead money. </a:t>
            </a:r>
            <a:r>
              <a:rPr sz="1300" b="0" i="0">
                <a:solidFill>
                  <a:srgbClr val="93A0B6"/>
                </a:solidFill>
                <a:latin typeface="Arial"/>
              </a:rPr>
              <a:t>$18.6M through 2027 for a DH-only, below-average bat. Negative trade value.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19672" y="4251959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93A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57416" y="4206240"/>
            <a:ext cx="448970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 i="0">
                <a:solidFill>
                  <a:srgbClr val="D9E1EF"/>
                </a:solidFill>
                <a:latin typeface="Arial"/>
              </a:rPr>
              <a:t>Absorb, don't chase. </a:t>
            </a:r>
            <a:r>
              <a:rPr sz="1300" b="0" i="0">
                <a:solidFill>
                  <a:srgbClr val="93A0B6"/>
                </a:solidFill>
                <a:latin typeface="Arial"/>
              </a:rPr>
              <a:t>Now platooning with Romy Gonzalez — as prescribed. Let it expire; move only in a partial salary-dump.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DON'T SELL 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Duran's 2026 is unlucky — not a true collapse</a:t>
            </a:r>
          </a:p>
        </p:txBody>
      </p:sp>
      <p:pic>
        <p:nvPicPr>
          <p:cNvPr id="4" name="Picture 3" descr="01_babip_vs_leag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6309360" cy="394335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040880" y="1700784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33488" y="1664208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2024 was earned, not a fluke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BABIP .344 vs xBABIP .333; xwOBA .340 legit. Credit his speed's usual edge over xstats and the true luck is only +5 to +14 pts.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40880" y="2761488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33488" y="2724912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2026 is the real anomaly — downward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wOBA .263 BELOW its .293 xwOBA — 34 to 43 pts under his own norm; BABIP .238 vs .309 expected. Erosion real, luck worse.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0" y="3822191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33488" y="3785615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It isn't Fenway — and the legs are fine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Career gap +19 home / +19 road: identical — the skill travels. Speed, baserunning and fielding all still plus. No injury.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40880" y="488289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33488" y="4846320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True talent ≈ his 2025 (~110 wRC+)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An above-average regular. The 2024 high and 2026 low are tails around that plateau.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5934456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1" i="1">
                <a:solidFill>
                  <a:srgbClr val="E8615A"/>
                </a:solidFill>
                <a:latin typeface="Arial"/>
              </a:rPr>
              <a:t>Selling now cashes the slump. Value hinges on the rebound.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REBOUND MATH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10,000 simulations: the rebound is likely — unless the erosion is real</a:t>
            </a:r>
          </a:p>
        </p:txBody>
      </p:sp>
      <p:pic>
        <p:nvPicPr>
          <p:cNvPr id="4" name="Picture 3" descr="09_rebound_prob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589520" cy="32749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0" y="1645920"/>
            <a:ext cx="3383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93A0B6"/>
                </a:solidFill>
                <a:latin typeface="Arial"/>
              </a:rPr>
              <a:t>P(REST-OF-SEASON wRC+ ≥ 100)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1965960"/>
            <a:ext cx="33832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 i="0">
                <a:solidFill>
                  <a:srgbClr val="58C08D"/>
                </a:solidFill>
                <a:latin typeface="Arial"/>
              </a:rPr>
              <a:t>69%</a:t>
            </a:r>
            <a:r>
              <a:rPr sz="1250" b="0" i="0">
                <a:solidFill>
                  <a:srgbClr val="93A0B6"/>
                </a:solidFill>
                <a:latin typeface="Arial"/>
              </a:rPr>
              <a:t>  healthy prior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 i="0">
                <a:solidFill>
                  <a:srgbClr val="E8615A"/>
                </a:solidFill>
                <a:latin typeface="Arial"/>
              </a:rPr>
              <a:t>47%</a:t>
            </a:r>
            <a:r>
              <a:rPr sz="1250" b="0" i="0">
                <a:solidFill>
                  <a:srgbClr val="93A0B6"/>
                </a:solidFill>
                <a:latin typeface="Arial"/>
              </a:rPr>
              <a:t>  erosion-blended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3520440"/>
            <a:ext cx="3383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93A0B6"/>
                </a:solidFill>
                <a:latin typeface="Arial"/>
              </a:rPr>
              <a:t>EXPECTED OFFSEASON TRADE VALUE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3840480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400" b="1" i="0">
                <a:solidFill>
                  <a:srgbClr val="EAF0F8"/>
                </a:solidFill>
                <a:latin typeface="Arial"/>
              </a:rPr>
              <a:t>$22M</a:t>
            </a:r>
            <a:r>
              <a:rPr sz="1300" b="0" i="0">
                <a:solidFill>
                  <a:srgbClr val="93A0B6"/>
                </a:solidFill>
                <a:latin typeface="Arial"/>
              </a:rPr>
              <a:t> vs </a:t>
            </a:r>
            <a:r>
              <a:rPr sz="2400" b="1" i="0">
                <a:solidFill>
                  <a:srgbClr val="EAF0F8"/>
                </a:solidFill>
                <a:latin typeface="Arial"/>
              </a:rPr>
              <a:t>$18M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 i="0">
                <a:solidFill>
                  <a:srgbClr val="93A0B6"/>
                </a:solidFill>
                <a:latin typeface="Arial"/>
              </a:rPr>
              <a:t>either way, well above the ~$10M a July sale fetches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62356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 i="0">
                <a:solidFill>
                  <a:srgbClr val="E8615A"/>
                </a:solidFill>
                <a:latin typeface="Arial"/>
              </a:rPr>
              <a:t>The honest line: </a:t>
            </a:r>
            <a:r>
              <a:rPr sz="1350" b="0" i="0">
                <a:solidFill>
                  <a:srgbClr val="D9E1EF"/>
                </a:solidFill>
                <a:latin typeface="Arial"/>
              </a:rPr>
              <a:t>the 22-point probability gap is the price of the worse chase / whiff / hard-hit rates. Hold-through-2026 survives the erosion stress test — but with less confidence in the rebound narrative itself.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TIEBREAKER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The bat speed says it's the approach — not the body</a:t>
            </a:r>
          </a:p>
        </p:txBody>
      </p:sp>
      <p:pic>
        <p:nvPicPr>
          <p:cNvPr id="4" name="Picture 3" descr="10_erosion_decom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7621" y="1554480"/>
            <a:ext cx="8993709" cy="29260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617720"/>
            <a:ext cx="3502152" cy="16916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4754880"/>
            <a:ext cx="30449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58C08D"/>
                </a:solidFill>
                <a:latin typeface="Arial"/>
              </a:rPr>
              <a:t>74.5 mph</a:t>
            </a:r>
            <a:r>
              <a:rPr sz="1050" b="0" i="0">
                <a:solidFill>
                  <a:srgbClr val="93A0B6"/>
                </a:solidFill>
                <a:latin typeface="Arial"/>
              </a:rPr>
              <a:t>  avg bat speed, 2026 — UP from 72.7 in '24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5285232"/>
            <a:ext cx="30449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400"/>
              </a:spcAft>
            </a:pPr>
            <a:r>
              <a:rPr sz="1080" b="0" i="0">
                <a:solidFill>
                  <a:srgbClr val="D9E1EF"/>
                </a:solidFill>
                <a:latin typeface="Arial"/>
              </a:rPr>
              <a:t>A declining hitter swings slower. Duran is swinging harder, longer and steeper — pressing, not fading.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4617720"/>
            <a:ext cx="3502152" cy="16916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0288" y="4754880"/>
            <a:ext cx="30449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E8615A"/>
                </a:solidFill>
                <a:latin typeface="Arial"/>
              </a:rPr>
              <a:t>29% whiff vs 95+</a:t>
            </a:r>
            <a:r>
              <a:rPr sz="1050" b="0" i="0">
                <a:solidFill>
                  <a:srgbClr val="93A0B6"/>
                </a:solidFill>
                <a:latin typeface="Arial"/>
              </a:rPr>
              <a:t>  up from 16% in '24 — but not bat-death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0288" y="5285232"/>
            <a:ext cx="30449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400"/>
              </a:spcAft>
            </a:pPr>
            <a:r>
              <a:rPr sz="1080" b="0" i="0">
                <a:solidFill>
                  <a:srgbClr val="D9E1EF"/>
                </a:solidFill>
                <a:latin typeface="Arial"/>
              </a:rPr>
              <a:t>Whiffs on a rising bat speed = selling out. The chase leak is velo/offspeed; breaking-ball chase actually improved.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59" y="4617720"/>
            <a:ext cx="3502152" cy="16916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75903" y="4754880"/>
            <a:ext cx="30449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EAF0F8"/>
                </a:solidFill>
                <a:latin typeface="Arial"/>
              </a:rPr>
              <a:t>60 / 40</a:t>
            </a:r>
            <a:r>
              <a:rPr sz="1050" b="0" i="0">
                <a:solidFill>
                  <a:srgbClr val="93A0B6"/>
                </a:solidFill>
                <a:latin typeface="Arial"/>
              </a:rPr>
              <a:t>  re-weighted scenario odds → 60% rebound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75903" y="5285232"/>
            <a:ext cx="30449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400"/>
              </a:spcAft>
            </a:pPr>
            <a:r>
              <a:rPr sz="1080" b="0" i="0">
                <a:solidFill>
                  <a:srgbClr val="D9E1EF"/>
                </a:solidFill>
                <a:latin typeface="Arial"/>
              </a:rPr>
              <a:t>Approach is fixable (see his own 2022→23 chase overhaul); the tools a buyer prices are intact.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Aging doesn't explain the drop — regression and luck do</a:t>
            </a:r>
          </a:p>
        </p:txBody>
      </p:sp>
      <p:pic>
        <p:nvPicPr>
          <p:cNvPr id="4" name="Picture 3" descr="04_age_curve_over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1779" y="1508760"/>
            <a:ext cx="658368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580644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D9E1EF"/>
                </a:solidFill>
                <a:latin typeface="Arial"/>
              </a:rPr>
              <a:t>2024 → 2026 wRC+ fell ~70 points; a normal age 27→29 curve predicts only ~7. </a:t>
            </a:r>
            <a:r>
              <a:rPr sz="1400" b="1" i="0">
                <a:solidFill>
                  <a:srgbClr val="EAF0F8"/>
                </a:solidFill>
                <a:latin typeface="Arial"/>
              </a:rPr>
              <a:t>The gap is mean-reversion from an inflated peak plus a 2026 bad-luck tail — not skill cliff.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IF THEY BUY — WHERE?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The roster's biggest hole is the Duran slump itself</a:t>
            </a:r>
          </a:p>
        </p:txBody>
      </p:sp>
      <p:pic>
        <p:nvPicPr>
          <p:cNvPr id="4" name="Picture 3" descr="13_positional_au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118" y="1554480"/>
            <a:ext cx="7066483" cy="42062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77393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737360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LF −31: internal fix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Duran's regression — now sheltered by a Jahmai Jones platoon — plus Anthony's eventual return. Free.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889504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2852928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SS −18: the true target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One controllable infield stabilizer is the only lineup trade that fits the odds.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005072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3968496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Bullpen: quiet weakness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ERA top-10 but FIP and reliever WAR rank far worse — it will regress without help.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5120640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3608" y="5084064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The Contreras twist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The winter's reported sell candidate is now their best hitter. Moving him would be surrender priced as prudence.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CHEMISTRY VETO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Two catchers, one assignment system — don't touch it</a:t>
            </a:r>
          </a:p>
        </p:txBody>
      </p:sp>
      <p:pic>
        <p:nvPicPr>
          <p:cNvPr id="4" name="Picture 3" descr="14_battery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160" y="1554480"/>
            <a:ext cx="7010399" cy="42062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77393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737360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The staff works with both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3.47 RA9 with Wong, 4.17 with Narváez — the run-prevention core of the streak.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889504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2852928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Every arm has a guy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Gray: 1.86 with Wong (4.40 with Narváez). Bennett: 1.12 with Narváez. Bello: ~5 runs better with Wong.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005072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3968496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The pen is paired too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Watson and Morán both run 3+ runs better with Narváez — leverage innings aren't assigned at random.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5120640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3608" y="5084064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So: no catcher trade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The audit sees a below-average bat; the staff sees its catchers. Small, usage-confounded samples — but you don't reset eight batteries mid-streak for one.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MENU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Three trades that fit — and the walk-away. Keep it small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691640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56232"/>
            <a:ext cx="4855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58C08D"/>
                </a:solidFill>
                <a:latin typeface="Arial"/>
              </a:rPr>
              <a:t>1 · THE PEN FIX · DO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4855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EAF0F8"/>
                </a:solidFill>
                <a:latin typeface="Arial"/>
              </a:rPr>
              <a:t>RHP Luke Weaver (NYM)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560320"/>
            <a:ext cx="48554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For a 45 FV + 40 FV — prospects only, nobody loses a job or an inning. Elite relief year, signed through '27. The highest-probability marginal win on the board.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91640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83096" y="1856232"/>
            <a:ext cx="4855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EAF0F8"/>
                </a:solidFill>
                <a:latin typeface="Arial"/>
              </a:rPr>
              <a:t>2 · THE STABILIZER · IF THE PRICE HOLDS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83096" y="2148840"/>
            <a:ext cx="4855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EAF0F8"/>
                </a:solidFill>
                <a:latin typeface="Arial"/>
              </a:rPr>
              <a:t>2B Luis Arraez (SFG)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83096" y="2560320"/>
            <a:ext cx="48554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For Brayan Bello — the first deal that touches the active roster. Zero prospect cost; Arraez fills a patchwork platoon spot, not a hot regular's.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886200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050791"/>
            <a:ext cx="4855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E8615A"/>
                </a:solidFill>
                <a:latin typeface="Arial"/>
              </a:rPr>
              <a:t>3 · THE BIG SWING · PROBABLY WAIT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343400"/>
            <a:ext cx="4855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EAF0F8"/>
                </a:solidFill>
                <a:latin typeface="Arial"/>
              </a:rPr>
              <a:t>SS Zach Neto (LAA)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754880"/>
            <a:ext cx="48554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For Tolle + Early + a 45 FV: two arms out of a winning rotation mid-streak. Franchise-window correct — and still there in the winter. Controlled through 2029.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27064" y="3886200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83096" y="4050791"/>
            <a:ext cx="4855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E3B14E"/>
                </a:solidFill>
                <a:latin typeface="Arial"/>
              </a:rPr>
              <a:t>✗ · THE WALK-AWAY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83096" y="4343400"/>
            <a:ext cx="4855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EAF0F8"/>
                </a:solidFill>
                <a:latin typeface="Arial"/>
              </a:rPr>
              <a:t>C Shea Langeliers (ATH)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4754880"/>
            <a:ext cx="48554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The value math worked; the battery map is the veto. No August bat is worth resetting eight pitcher-catcher pairings in the middle of a streak built on run prevention.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589788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D9E1EF"/>
                </a:solidFill>
                <a:latin typeface="Arial"/>
              </a:rPr>
              <a:t>A menu, not a plan — Boston can afford about two. </a:t>
            </a:r>
            <a:r>
              <a:rPr sz="1250" b="0" i="0">
                <a:solidFill>
                  <a:srgbClr val="93A0B6"/>
                </a:solidFill>
                <a:latin typeface="Arial"/>
              </a:rPr>
              <a:t>Full value math and verified contracts in the mock-trades memo. Hypotheticals, not reporting.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WINTER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Pitching is the strength — spend the surplus on offense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50" b="0" i="0">
                <a:solidFill>
                  <a:srgbClr val="D9E1EF"/>
                </a:solidFill>
                <a:latin typeface="Arial"/>
              </a:rPr>
              <a:t>If winter comes and Duran's rebound has shown up, this is what a deal should return. With a top-6 rotation (3.65 ERA) carrying the club, trading bats for arms is backwards — convert the outfield surplus into what's thin: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2468880"/>
            <a:ext cx="3502152" cy="251460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7" y="2724912"/>
            <a:ext cx="384048" cy="384048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0B1220"/>
                </a:solidFill>
                <a:latin typeface="Courier New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3310128"/>
            <a:ext cx="299923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EAF0F8"/>
                </a:solidFill>
                <a:latin typeface="Arial"/>
              </a:rPr>
              <a:t>Controllable bats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3767328"/>
            <a:ext cx="299923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80" b="0" i="0">
                <a:solidFill>
                  <a:srgbClr val="93A0B6"/>
                </a:solidFill>
                <a:latin typeface="Arial"/>
              </a:rPr>
              <a:t>Young, cost-controlled position players to fix an inconsistent lineup and lengthen it around the core.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2544" y="2468880"/>
            <a:ext cx="3502152" cy="251460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626864" y="2724912"/>
            <a:ext cx="384048" cy="384048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0B1220"/>
                </a:solidFill>
                <a:latin typeface="Courier New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6864" y="3310128"/>
            <a:ext cx="299923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EAF0F8"/>
                </a:solidFill>
                <a:latin typeface="Arial"/>
              </a:rPr>
              <a:t>Best talent / upside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6864" y="3767328"/>
            <a:ext cx="299923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80" b="0" i="0">
                <a:solidFill>
                  <a:srgbClr val="93A0B6"/>
                </a:solidFill>
                <a:latin typeface="Arial"/>
              </a:rPr>
              <a:t>In a retool you take the best player, not the positional patch — prospects and MLB-ready youth over rentals.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59" y="2468880"/>
            <a:ext cx="3502152" cy="251460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412480" y="2724912"/>
            <a:ext cx="384048" cy="384048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0B1220"/>
                </a:solidFill>
                <a:latin typeface="Courier New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310128"/>
            <a:ext cx="299923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EAF0F8"/>
                </a:solidFill>
                <a:latin typeface="Arial"/>
              </a:rPr>
              <a:t>Salary relief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767328"/>
            <a:ext cx="299923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80" b="0" i="0">
                <a:solidFill>
                  <a:srgbClr val="93A0B6"/>
                </a:solidFill>
                <a:latin typeface="Arial"/>
              </a:rPr>
              <a:t>Attach Yoshida money where possible; free payroll for the 2027 window.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25780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1">
                <a:solidFill>
                  <a:srgbClr val="EAF0F8"/>
                </a:solidFill>
                <a:latin typeface="Arial"/>
              </a:rPr>
              <a:t>Keep the arms. Cash the outfield. </a:t>
            </a:r>
            <a:r>
              <a:rPr sz="1400" b="0" i="1">
                <a:solidFill>
                  <a:srgbClr val="93A0B6"/>
                </a:solidFill>
                <a:latin typeface="Arial"/>
              </a:rPr>
              <a:t>Build the 2027 lineup, don't rent the 2026 one.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MARKET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Who pays: contenders with a hole in the outfield</a:t>
            </a:r>
          </a:p>
        </p:txBody>
      </p:sp>
      <p:pic>
        <p:nvPicPr>
          <p:cNvPr id="4" name="Picture 3" descr="08_trade_fit_targ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237" y="1463040"/>
            <a:ext cx="6715125" cy="4297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83879" y="169164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AF0F8"/>
                </a:solidFill>
                <a:latin typeface="Arial"/>
              </a:rPr>
              <a:t>Best-fit buyers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83879" y="2221991"/>
            <a:ext cx="128016" cy="128016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39911" y="2194560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EAF0F8"/>
                </a:solidFill>
                <a:latin typeface="Arial"/>
              </a:rPr>
              <a:t>Phillies  </a:t>
            </a:r>
            <a:r>
              <a:rPr sz="1200" b="0" i="0">
                <a:solidFill>
                  <a:srgbClr val="93A0B6"/>
                </a:solidFill>
                <a:latin typeface="Arial"/>
              </a:rPr>
              <a:t>.557, 84 OF wRC+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83879" y="2788920"/>
            <a:ext cx="128016" cy="128016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39911" y="2761488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EAF0F8"/>
                </a:solidFill>
                <a:latin typeface="Arial"/>
              </a:rPr>
              <a:t>Rays  </a:t>
            </a:r>
            <a:r>
              <a:rPr sz="1200" b="0" i="0">
                <a:solidFill>
                  <a:srgbClr val="93A0B6"/>
                </a:solidFill>
                <a:latin typeface="Arial"/>
              </a:rPr>
              <a:t>.596, 88 OF wRC+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83879" y="3355847"/>
            <a:ext cx="128016" cy="128016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39911" y="3328415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EAF0F8"/>
                </a:solidFill>
                <a:latin typeface="Arial"/>
              </a:rPr>
              <a:t>Cardinals  </a:t>
            </a:r>
            <a:r>
              <a:rPr sz="1200" b="0" i="0">
                <a:solidFill>
                  <a:srgbClr val="93A0B6"/>
                </a:solidFill>
                <a:latin typeface="Arial"/>
              </a:rPr>
              <a:t>.526, OF need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79" y="3922776"/>
            <a:ext cx="128016" cy="128016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39911" y="3895344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EAF0F8"/>
                </a:solidFill>
                <a:latin typeface="Arial"/>
              </a:rPr>
              <a:t>Astros  </a:t>
            </a:r>
            <a:r>
              <a:rPr sz="1200" b="0" i="0">
                <a:solidFill>
                  <a:srgbClr val="93A0B6"/>
                </a:solidFill>
                <a:latin typeface="Arial"/>
              </a:rPr>
              <a:t>fringe, weakest OF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79" y="4709160"/>
            <a:ext cx="3657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0" i="0">
                <a:solidFill>
                  <a:srgbClr val="D9E1EF"/>
                </a:solidFill>
                <a:latin typeface="Arial"/>
              </a:rPr>
              <a:t>Trade a redundant bat to a team that needs one — and take back the </a:t>
            </a:r>
            <a:r>
              <a:rPr sz="1250" b="1" i="0">
                <a:solidFill>
                  <a:srgbClr val="58C08D"/>
                </a:solidFill>
                <a:latin typeface="Arial"/>
              </a:rPr>
              <a:t>hitting/youth</a:t>
            </a:r>
            <a:r>
              <a:rPr sz="1250" b="0" i="0">
                <a:solidFill>
                  <a:srgbClr val="D9E1EF"/>
                </a:solidFill>
                <a:latin typeface="Arial"/>
              </a:rPr>
              <a:t> Boston is short 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Buy now, decide on Duran in the winter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01368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0B1220"/>
                </a:solidFill>
                <a:latin typeface="Courier New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783080"/>
            <a:ext cx="6126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700" b="1" i="0">
                <a:solidFill>
                  <a:srgbClr val="EAF0F8"/>
                </a:solidFill>
                <a:latin typeface="Arial"/>
              </a:rPr>
              <a:t>At the deadline: buy targeted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50" b="0" i="0">
                <a:solidFill>
                  <a:srgbClr val="93A0B6"/>
                </a:solidFill>
                <a:latin typeface="Arial"/>
              </a:rPr>
              <a:t>A controllable infield bat and a reliever, funded from the pitching surplus. Keep the vets — they're playoff innings now.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71800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0B1220"/>
                </a:solidFill>
                <a:latin typeface="Courier New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953512"/>
            <a:ext cx="6126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700" b="1" i="0">
                <a:solidFill>
                  <a:srgbClr val="EAF0F8"/>
                </a:solidFill>
                <a:latin typeface="Arial"/>
              </a:rPr>
              <a:t>Hold Duran through August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50" b="0" i="0">
                <a:solidFill>
                  <a:srgbClr val="93A0B6"/>
                </a:solidFill>
                <a:latin typeface="Arial"/>
              </a:rPr>
              <a:t>His value is at its nadir and his July contact quality (~.35 xwOBA) is already surging. Selling now cashes the slump.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42231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0B1220"/>
                </a:solidFill>
                <a:latin typeface="Courier New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4123944"/>
            <a:ext cx="6126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700" b="1" i="0">
                <a:solidFill>
                  <a:srgbClr val="EAF0F8"/>
                </a:solidFill>
                <a:latin typeface="Arial"/>
              </a:rPr>
              <a:t>Winter: re-price, then choose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50" b="0" i="0">
                <a:solidFill>
                  <a:srgbClr val="93A0B6"/>
                </a:solidFill>
                <a:latin typeface="Arial"/>
              </a:rPr>
              <a:t>Anthony healthy, jam returns. Rebound confirmed → extend or trade at full price, plus Yoshida money. Erosion persists → sell at market. Either way, the 2027 OF is Anthony / Rafaela / Abreu.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18120" y="1783080"/>
            <a:ext cx="3794760" cy="3337560"/>
          </a:xfrm>
          <a:prstGeom prst="roundRect">
            <a:avLst>
              <a:gd name="adj" fmla="val 6000"/>
            </a:avLst>
          </a:prstGeom>
          <a:solidFill>
            <a:srgbClr val="1A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92440" y="201168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C9D2E3"/>
                </a:solidFill>
                <a:latin typeface="Arial"/>
              </a:rPr>
              <a:t>THE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2440" y="2487168"/>
            <a:ext cx="3291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 i="0">
                <a:solidFill>
                  <a:srgbClr val="F0B8BC"/>
                </a:solidFill>
                <a:latin typeface="Arial"/>
              </a:rPr>
              <a:t>Sell now (nadir)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 i="0">
                <a:solidFill>
                  <a:srgbClr val="F4F7FC"/>
                </a:solidFill>
                <a:latin typeface="Arial"/>
              </a:rPr>
              <a:t>~$10–15M · a 45-FV bat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3520440"/>
            <a:ext cx="3291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 i="0">
                <a:solidFill>
                  <a:srgbClr val="A9E5B5"/>
                </a:solidFill>
                <a:latin typeface="Arial"/>
              </a:rPr>
              <a:t>Sell after rebound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 i="0">
                <a:solidFill>
                  <a:srgbClr val="F4F7FC"/>
                </a:solidFill>
                <a:latin typeface="Arial"/>
              </a:rPr>
              <a:t>~$28M · a 50-FV, top-100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 i="0">
                <a:solidFill>
                  <a:srgbClr val="F4F7FC"/>
                </a:solidFill>
                <a:latin typeface="Arial"/>
              </a:rPr>
              <a:t>controllable talent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440" y="4617720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1">
                <a:solidFill>
                  <a:srgbClr val="C9D2E3"/>
                </a:solidFill>
                <a:latin typeface="Arial"/>
              </a:rPr>
              <a:t>One grade of return = the reason to wait.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640080"/>
            <a:ext cx="310896" cy="310896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62179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9D2E3"/>
                </a:solidFill>
                <a:latin typeface="Arial"/>
              </a:rPr>
              <a:t>BOTTOM 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37943"/>
            <a:ext cx="164592" cy="16459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78308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100" b="1" i="0">
                <a:solidFill>
                  <a:srgbClr val="F4F7FC"/>
                </a:solidFill>
                <a:latin typeface="Arial"/>
              </a:rPr>
              <a:t>Play the hand.  </a:t>
            </a:r>
            <a:r>
              <a:rPr sz="1500" b="0" i="0">
                <a:solidFill>
                  <a:srgbClr val="CDD4E2"/>
                </a:solidFill>
                <a:latin typeface="Arial"/>
              </a:rPr>
              <a:t>75% playoff odds, +45 run differential, a wild card in hand — buy targeted (a shortstop, a reliever), keep the vets, and let the record keep catching up to the process.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072384"/>
            <a:ext cx="164592" cy="16459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301752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100" b="1" i="0">
                <a:solidFill>
                  <a:srgbClr val="F4F7FC"/>
                </a:solidFill>
                <a:latin typeface="Arial"/>
              </a:rPr>
              <a:t>Cash the surplus, not the slump.  </a:t>
            </a:r>
            <a:r>
              <a:rPr sz="1500" b="0" i="0">
                <a:solidFill>
                  <a:srgbClr val="CDD4E2"/>
                </a:solidFill>
                <a:latin typeface="Arial"/>
              </a:rPr>
              <a:t>Hold Duran through the deadline; re-price him in winter — extend or trade the 2025 player, never the unlucky 2026 one.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06824"/>
            <a:ext cx="164592" cy="16459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25196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100" b="1" i="0">
                <a:solidFill>
                  <a:srgbClr val="F4F7FC"/>
                </a:solidFill>
                <a:latin typeface="Arial"/>
              </a:rPr>
              <a:t>Quarantine the dead money.  </a:t>
            </a:r>
            <a:r>
              <a:rPr sz="1500" b="0" i="0">
                <a:solidFill>
                  <a:srgbClr val="CDD4E2"/>
                </a:solidFill>
                <a:latin typeface="Arial"/>
              </a:rPr>
              <a:t>Absorb Yoshida; free the 2027 payroll and the DH slot.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5623560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1" i="0">
                <a:solidFill>
                  <a:srgbClr val="9AA6BC"/>
                </a:solidFill>
                <a:latin typeface="Arial"/>
              </a:rPr>
              <a:t>Confidence: </a:t>
            </a:r>
            <a:r>
              <a:rPr sz="1250" b="0" i="1">
                <a:solidFill>
                  <a:srgbClr val="9AA6BC"/>
                </a:solidFill>
                <a:latin typeface="Arial"/>
              </a:rPr>
              <a:t>high that 2024 shouldn't be the anchor and pitching is a strength; the open question is how much of 2026's skill dip (chase, whiff, hard-hit are all worse) persists — the one thing to watch before selling.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