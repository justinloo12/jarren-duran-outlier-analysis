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6928" y="566928"/>
            <a:ext cx="310896" cy="310896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Calibri"/>
              </a:rPr>
              <a:t>BOSTON RED SOX  ·  ROSTER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Turning the Outfield Logjam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BD3039"/>
                </a:solidFill>
                <a:latin typeface="Cambria"/>
              </a:rPr>
              <a:t>into an Asset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3D9E6"/>
                </a:solidFill>
                <a:latin typeface="Calibri"/>
              </a:rPr>
              <a:t>Five bats for four spots. The pitching is carrying the team — so the fix isn't to buy arms, it's to convert a redundant outfield into the offense and youth the roster actually needs.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C97AC"/>
                </a:solidFill>
                <a:latin typeface="Calibri"/>
              </a:rPr>
              <a:t>A data-driven roster case study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C2340"/>
                </a:solidFill>
                <a:latin typeface="Cambria"/>
              </a:rPr>
              <a:t>A down year for the bats — but a rare surplus in the grass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BD3039"/>
                </a:solidFill>
                <a:latin typeface="Cambria"/>
              </a:rPr>
              <a:t>~70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C2340"/>
                </a:solidFill>
                <a:latin typeface="Calibri"/>
              </a:rPr>
              <a:t>win pace in 2026 (37-48)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the offense, not the pitching, is the drag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0C2340"/>
                </a:solidFill>
                <a:latin typeface="Cambria"/>
              </a:rPr>
              <a:t>Top-10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C2340"/>
                </a:solidFill>
                <a:latin typeface="Calibri"/>
              </a:rPr>
              <a:t>starting rotation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8th in WAR, 9th in ERA (3.76) — a strength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0C2340"/>
                </a:solidFill>
                <a:latin typeface="Cambria"/>
              </a:rPr>
              <a:t>5 →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C2340"/>
                </a:solidFill>
                <a:latin typeface="Calibri"/>
              </a:rPr>
              <a:t>OF/DH for four spots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the one area of genuine roster depth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20232A"/>
                </a:solidFill>
                <a:latin typeface="Calibri"/>
              </a:rPr>
              <a:t>The Sox aren't buying their way to a 2026 title. </a:t>
            </a:r>
            <a:r>
              <a:rPr sz="1500" b="0" i="0">
                <a:solidFill>
                  <a:srgbClr val="20232A"/>
                </a:solidFill>
                <a:latin typeface="Calibri"/>
              </a:rPr>
              <a:t>They're setting up 2027 around a strong rotation and a cheap young outfield core. Right now the jam is even </a:t>
            </a:r>
            <a:r>
              <a:rPr sz="1500" b="1" i="0">
                <a:solidFill>
                  <a:srgbClr val="BD3039"/>
                </a:solidFill>
                <a:latin typeface="Calibri"/>
              </a:rPr>
              <a:t>masked by Roman Anthony's injury</a:t>
            </a:r>
            <a:r>
              <a:rPr sz="1500" b="0" i="0">
                <a:solidFill>
                  <a:srgbClr val="20232A"/>
                </a:solidFill>
                <a:latin typeface="Calibri"/>
              </a:rPr>
              <a:t> (60-day IL) — which makes it a 2027 problem to solve this winter, not a deadline scramble.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Boston Red Sox · Outfield Strategy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Analysis: Statcast / FanGraphs / MLB Stats API · salary Spotrac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KEEP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C2340"/>
                </a:solidFill>
                <a:latin typeface="Cambria"/>
              </a:rPr>
              <a:t>The young, cheap, controllable core — that's the 2027 outfield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350215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0C2340"/>
                </a:solidFill>
                <a:latin typeface="Cambria"/>
              </a:rPr>
              <a:t>Roman Anthony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LF · age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2E7D32"/>
                </a:solidFill>
                <a:latin typeface="Cambria"/>
              </a:rPr>
              <a:t>3.8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projected WAR / 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0232A"/>
                </a:solidFill>
                <a:latin typeface="Calibri"/>
              </a:rPr>
              <a:t>$2.6M · 8yr/$130M 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Calibri"/>
              </a:rPr>
              <a:t>Franchise bat. Untouchable. On the IL now, back in 2027.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83080"/>
            <a:ext cx="350215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0C2340"/>
                </a:solidFill>
                <a:latin typeface="Cambria"/>
              </a:rPr>
              <a:t>Ceddanne Rafaela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CF · age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2E7D32"/>
                </a:solidFill>
                <a:latin typeface="Cambria"/>
              </a:rPr>
              <a:t>3.2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projected WAR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0232A"/>
                </a:solidFill>
                <a:latin typeface="Calibri"/>
              </a:rPr>
              <a:t>$2.0M · 8yr/$50M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Calibri"/>
              </a:rPr>
              <a:t>Elite center-field glove + SS/utility flex. Premium position, controlled cheap.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783080"/>
            <a:ext cx="3502152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0C2340"/>
                </a:solidFill>
                <a:latin typeface="Cambria"/>
              </a:rPr>
              <a:t>Wilyer Abreu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RF · age 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2E7D32"/>
                </a:solidFill>
                <a:latin typeface="Cambria"/>
              </a:rPr>
              <a:t>2.8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projected WAR / 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0232A"/>
                </a:solidFill>
                <a:latin typeface="Calibri"/>
              </a:rPr>
              <a:t>$0.8M · pre-arb → 2029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Calibri"/>
              </a:rPr>
              <a:t>Best surplus on the roster: plus RF glove, above-average LH bat.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0C2340"/>
                </a:solidFill>
                <a:latin typeface="Calibri"/>
              </a:rPr>
              <a:t>Three spots, locked. Everything else flexes around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Boston Red Sox · Outfield Strategy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Analysis: Statcast / FanGraphs / MLB Stats API · salary Spotrac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C2340"/>
                </a:solidFill>
                <a:latin typeface="Cambria"/>
              </a:rPr>
              <a:t>The two that don't fit: a redundant bat and a dead contract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5358384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0C2340"/>
                </a:solidFill>
                <a:latin typeface="Cambria"/>
              </a:rPr>
              <a:t>Jarren Duran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D3039"/>
                </a:solidFill>
                <a:latin typeface="Calibri"/>
              </a:rPr>
              <a:t>LF/CF · 29 · $7.7M</a:t>
            </a:r>
          </a:p>
        </p:txBody>
      </p:sp>
      <p:sp>
        <p:nvSpPr>
          <p:cNvPr id="7" name="Oval 6"/>
          <p:cNvSpPr/>
          <p:nvPr/>
        </p:nvSpPr>
        <p:spPr>
          <a:xfrm>
            <a:off x="859536" y="3108960"/>
            <a:ext cx="118872" cy="118872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20232A"/>
                </a:solidFill>
                <a:latin typeface="Calibri"/>
              </a:rPr>
              <a:t>Movable piece. </a:t>
            </a:r>
            <a:r>
              <a:rPr sz="1300" b="0" i="0">
                <a:solidFill>
                  <a:srgbClr val="6B7280"/>
                </a:solidFill>
                <a:latin typeface="Calibri"/>
              </a:rPr>
              <a:t>Controllable through 2028; above-average at true talent (~110 wRC+). Redundant behind the core and the priciest of the young group.</a:t>
            </a:r>
          </a:p>
        </p:txBody>
      </p:sp>
      <p:sp>
        <p:nvSpPr>
          <p:cNvPr id="9" name="Oval 8"/>
          <p:cNvSpPr/>
          <p:nvPr/>
        </p:nvSpPr>
        <p:spPr>
          <a:xfrm>
            <a:off x="859536" y="4251959"/>
            <a:ext cx="118872" cy="118872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20232A"/>
                </a:solidFill>
                <a:latin typeface="Calibri"/>
              </a:rPr>
              <a:t>The asset to sell. </a:t>
            </a:r>
            <a:r>
              <a:rPr sz="1300" b="0" i="0">
                <a:solidFill>
                  <a:srgbClr val="6B7280"/>
                </a:solidFill>
                <a:latin typeface="Calibri"/>
              </a:rPr>
              <a:t>The one everyday, controllable OF a contender will pay real prospects for.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5358384" cy="3611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0C2340"/>
                </a:solidFill>
                <a:latin typeface="Cambria"/>
              </a:rPr>
              <a:t>Masataka Yoshida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6B7280"/>
                </a:solidFill>
                <a:latin typeface="Calibri"/>
              </a:rPr>
              <a:t>DH · 32 · $18.6M</a:t>
            </a:r>
          </a:p>
        </p:txBody>
      </p:sp>
      <p:sp>
        <p:nvSpPr>
          <p:cNvPr id="14" name="Oval 13"/>
          <p:cNvSpPr/>
          <p:nvPr/>
        </p:nvSpPr>
        <p:spPr>
          <a:xfrm>
            <a:off x="6519672" y="3108960"/>
            <a:ext cx="118872" cy="118872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20232A"/>
                </a:solidFill>
                <a:latin typeface="Calibri"/>
              </a:rPr>
              <a:t>Dead money. </a:t>
            </a:r>
            <a:r>
              <a:rPr sz="1300" b="0" i="0">
                <a:solidFill>
                  <a:srgbClr val="6B7280"/>
                </a:solidFill>
                <a:latin typeface="Calibri"/>
              </a:rPr>
              <a:t>$18.6M through 2027 for a DH-only, below-average bat. Negative trade value.</a:t>
            </a:r>
          </a:p>
        </p:txBody>
      </p:sp>
      <p:sp>
        <p:nvSpPr>
          <p:cNvPr id="16" name="Oval 15"/>
          <p:cNvSpPr/>
          <p:nvPr/>
        </p:nvSpPr>
        <p:spPr>
          <a:xfrm>
            <a:off x="6519672" y="4251959"/>
            <a:ext cx="118872" cy="118872"/>
          </a:xfrm>
          <a:prstGeom prst="ellips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20232A"/>
                </a:solidFill>
                <a:latin typeface="Calibri"/>
              </a:rPr>
              <a:t>Absorb, don't chase. </a:t>
            </a:r>
            <a:r>
              <a:rPr sz="1300" b="0" i="0">
                <a:solidFill>
                  <a:srgbClr val="6B7280"/>
                </a:solidFill>
                <a:latin typeface="Calibri"/>
              </a:rPr>
              <a:t>Let it expire as a platoon DH, or move only in a partial salary-dump. Don't pay to escape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Boston Red Sox · Outfield Strategy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Analysis: Statcast / FanGraphs / MLB Stats API · salary Spotrac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DON'T SELL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C2340"/>
                </a:solidFill>
                <a:latin typeface="Cambria"/>
              </a:rPr>
              <a:t>Duran's 2026 is unlucky — not a true collapse</a:t>
            </a:r>
          </a:p>
        </p:txBody>
      </p:sp>
      <p:pic>
        <p:nvPicPr>
          <p:cNvPr id="4" name="Picture 3" descr="01_babip_vs_lea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309360" cy="394335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7040880" y="1819656"/>
            <a:ext cx="146304" cy="146304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33488" y="1783080"/>
            <a:ext cx="45720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0C2340"/>
                </a:solidFill>
                <a:latin typeface="Calibri"/>
              </a:rPr>
              <a:t>2024 was earned, not a fluke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His BABIP (.344) sat close to his contact-quality xBABIP (.333); xwOBA .340 was legit. A good year, only modestly lucky.</a:t>
            </a:r>
          </a:p>
        </p:txBody>
      </p:sp>
      <p:sp>
        <p:nvSpPr>
          <p:cNvPr id="7" name="Oval 6"/>
          <p:cNvSpPr/>
          <p:nvPr/>
        </p:nvSpPr>
        <p:spPr>
          <a:xfrm>
            <a:off x="7040880" y="3081528"/>
            <a:ext cx="146304" cy="146304"/>
          </a:xfrm>
          <a:prstGeom prst="ellipse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3044952"/>
            <a:ext cx="45720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0C2340"/>
                </a:solidFill>
                <a:latin typeface="Calibri"/>
              </a:rPr>
              <a:t>2026 is the real anomaly — downward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wOBA .265 sits BELOW its xwOBA .286; BABIP .244 vs .311 expected. Real skill erosion, but the line is worse than the player.</a:t>
            </a:r>
          </a:p>
        </p:txBody>
      </p:sp>
      <p:sp>
        <p:nvSpPr>
          <p:cNvPr id="9" name="Oval 8"/>
          <p:cNvSpPr/>
          <p:nvPr/>
        </p:nvSpPr>
        <p:spPr>
          <a:xfrm>
            <a:off x="7040880" y="4343400"/>
            <a:ext cx="146304" cy="14630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33488" y="4306824"/>
            <a:ext cx="45720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0C2340"/>
                </a:solidFill>
                <a:latin typeface="Calibri"/>
              </a:rPr>
              <a:t>True talent ≈ his 2025 (~110 wRC+)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An above-average regular. Both the 2024 high and 2026 low are tails around that.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56144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1">
                <a:solidFill>
                  <a:srgbClr val="BD3039"/>
                </a:solidFill>
                <a:latin typeface="Calibri"/>
              </a:rPr>
              <a:t>Selling now cashes the slump. Value hinges on the rebound.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Boston Red Sox · Outfield Strategy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Analysis: Statcast / FanGraphs / MLB Stats API · salary Spotrac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THE REBOUND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C2340"/>
                </a:solidFill>
                <a:latin typeface="Cambria"/>
              </a:rPr>
              <a:t>10,000 simulations: the rebound is likely — unless the erosion is real</a:t>
            </a:r>
          </a:p>
        </p:txBody>
      </p:sp>
      <p:pic>
        <p:nvPicPr>
          <p:cNvPr id="4" name="Picture 3" descr="09_rebound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32749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6B7280"/>
                </a:solidFill>
                <a:latin typeface="Calibri"/>
              </a:rPr>
              <a:t>P(REST-OF-SEASON wRC+ ≥ 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65960"/>
            <a:ext cx="3383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2E7D32"/>
                </a:solidFill>
                <a:latin typeface="Cambria"/>
              </a:rPr>
              <a:t>69%</a:t>
            </a:r>
            <a:r>
              <a:rPr sz="1250" b="0" i="0">
                <a:solidFill>
                  <a:srgbClr val="6B7280"/>
                </a:solidFill>
                <a:latin typeface="Calibri"/>
              </a:rPr>
              <a:t>  healthy prior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BD3039"/>
                </a:solidFill>
                <a:latin typeface="Cambria"/>
              </a:rPr>
              <a:t>47%</a:t>
            </a:r>
            <a:r>
              <a:rPr sz="1250" b="0" i="0">
                <a:solidFill>
                  <a:srgbClr val="6B7280"/>
                </a:solidFill>
                <a:latin typeface="Calibri"/>
              </a:rPr>
              <a:t>  erosion-blended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6B7280"/>
                </a:solidFill>
                <a:latin typeface="Calibri"/>
              </a:rPr>
              <a:t>EXPECTED OFFSEASON TRADE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8404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 i="0">
                <a:solidFill>
                  <a:srgbClr val="0C2340"/>
                </a:solidFill>
                <a:latin typeface="Cambria"/>
              </a:rPr>
              <a:t>$22M</a:t>
            </a:r>
            <a:r>
              <a:rPr sz="1300" b="0" i="0">
                <a:solidFill>
                  <a:srgbClr val="6B7280"/>
                </a:solidFill>
                <a:latin typeface="Calibri"/>
              </a:rPr>
              <a:t> vs </a:t>
            </a:r>
            <a:r>
              <a:rPr sz="2400" b="1" i="0">
                <a:solidFill>
                  <a:srgbClr val="0C2340"/>
                </a:solidFill>
                <a:latin typeface="Cambria"/>
              </a:rPr>
              <a:t>$18M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 i="0">
                <a:solidFill>
                  <a:srgbClr val="6B7280"/>
                </a:solidFill>
                <a:latin typeface="Calibri"/>
              </a:rPr>
              <a:t>either way, well above the ~$10M a July sale fetches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BD3039"/>
                </a:solidFill>
                <a:latin typeface="Calibri"/>
              </a:rPr>
              <a:t>The honest line: </a:t>
            </a:r>
            <a:r>
              <a:rPr sz="1350" b="0" i="0">
                <a:solidFill>
                  <a:srgbClr val="20232A"/>
                </a:solidFill>
                <a:latin typeface="Calibri"/>
              </a:rPr>
              <a:t>the 22-point probability gap is the price of the worse chase / whiff / hard-hit rates. Hold-through-2026 survives the erosion stress test — but with less confidence in the rebound narrative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Boston Red Sox · Outfield Strategy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Analysis: Statcast / FanGraphs / MLB Stats API · salary Spotrac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C2340"/>
                </a:solidFill>
                <a:latin typeface="Cambria"/>
              </a:rPr>
              <a:t>Aging doesn't explain the drop — regression and luck do</a:t>
            </a:r>
          </a:p>
        </p:txBody>
      </p:sp>
      <p:pic>
        <p:nvPicPr>
          <p:cNvPr id="4" name="Picture 3" descr="04_age_curve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779" y="1508760"/>
            <a:ext cx="65836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0232A"/>
                </a:solidFill>
                <a:latin typeface="Calibri"/>
              </a:rPr>
              <a:t>2024 → 2026 wRC+ fell ~70 points; a normal age 27→29 curve predicts only ~7. </a:t>
            </a:r>
            <a:r>
              <a:rPr sz="1400" b="1" i="0">
                <a:solidFill>
                  <a:srgbClr val="0C2340"/>
                </a:solidFill>
                <a:latin typeface="Calibri"/>
              </a:rPr>
              <a:t>The gap is mean-reversion from an inflated peak plus a 2026 bad-luck tail — not skill cliff.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Boston Red Sox · Outfield Strategy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Analysis: Statcast / FanGraphs / MLB Stats API · salary Spotrac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WHAT TO GET 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C2340"/>
                </a:solidFill>
                <a:latin typeface="Cambria"/>
              </a:rPr>
              <a:t>Pitching is the strength — spend the surplus on offense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0" i="0">
                <a:solidFill>
                  <a:srgbClr val="20232A"/>
                </a:solidFill>
                <a:latin typeface="Calibri"/>
              </a:rPr>
              <a:t>With a top-10 rotation (3.76 ERA) already carrying the club, trading bats for arms is backwards. Convert the outfield surplus into what's thin: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468880"/>
            <a:ext cx="3502152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7" y="2724912"/>
            <a:ext cx="384048" cy="38404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0C2340"/>
                </a:solidFill>
                <a:latin typeface="Cambria"/>
              </a:rPr>
              <a:t>Controllable bats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Young, cost-controlled position players to fix an inconsistent lineup and lengthen it around the 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2468880"/>
            <a:ext cx="3502152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6864" y="2724912"/>
            <a:ext cx="384048" cy="384048"/>
          </a:xfrm>
          <a:prstGeom prst="ellipse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0C2340"/>
                </a:solidFill>
                <a:latin typeface="Cambria"/>
              </a:rPr>
              <a:t>Best talent / upside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In a retool you take the best player, not the positional patch — prospects and MLB-ready youth over rentals.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2468880"/>
            <a:ext cx="3502152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12480" y="2724912"/>
            <a:ext cx="384048" cy="384048"/>
          </a:xfrm>
          <a:prstGeom prst="ellipse">
            <a:avLst/>
          </a:prstGeom>
          <a:solidFill>
            <a:srgbClr val="B78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0C2340"/>
                </a:solidFill>
                <a:latin typeface="Cambria"/>
              </a:rPr>
              <a:t>Salary relief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Attach Yoshida money where possible; free payroll for the 2027 window.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2578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1">
                <a:solidFill>
                  <a:srgbClr val="0C2340"/>
                </a:solidFill>
                <a:latin typeface="Calibri"/>
              </a:rPr>
              <a:t>Keep the arms. Cash the outfield. </a:t>
            </a:r>
            <a:r>
              <a:rPr sz="1400" b="0" i="1">
                <a:solidFill>
                  <a:srgbClr val="6B7280"/>
                </a:solidFill>
                <a:latin typeface="Calibri"/>
              </a:rPr>
              <a:t>Build the 2027 lineup, don't rent the 2026 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Boston Red Sox · Outfield Strategy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Analysis: Statcast / FanGraphs / MLB Stats API · salary Spotrac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THE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C2340"/>
                </a:solidFill>
                <a:latin typeface="Cambria"/>
              </a:rPr>
              <a:t>Who pays: contenders with a hole in the outfield</a:t>
            </a:r>
          </a:p>
        </p:txBody>
      </p:sp>
      <p:pic>
        <p:nvPicPr>
          <p:cNvPr id="4" name="Picture 3" descr="08_trade_fit_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37" y="1463040"/>
            <a:ext cx="6715125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83879" y="16916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C2340"/>
                </a:solidFill>
                <a:latin typeface="Cambria"/>
              </a:rPr>
              <a:t>Best-fit buyers</a:t>
            </a:r>
          </a:p>
        </p:txBody>
      </p:sp>
      <p:sp>
        <p:nvSpPr>
          <p:cNvPr id="6" name="Oval 5"/>
          <p:cNvSpPr/>
          <p:nvPr/>
        </p:nvSpPr>
        <p:spPr>
          <a:xfrm>
            <a:off x="8183879" y="2221991"/>
            <a:ext cx="128016" cy="128016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39911" y="219456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0C2340"/>
                </a:solidFill>
                <a:latin typeface="Calibri"/>
              </a:rPr>
              <a:t>Phillies  </a:t>
            </a:r>
            <a:r>
              <a:rPr sz="1200" b="0" i="0">
                <a:solidFill>
                  <a:srgbClr val="6B7280"/>
                </a:solidFill>
                <a:latin typeface="Calibri"/>
              </a:rPr>
              <a:t>contender, 88 OF wRC+</a:t>
            </a:r>
          </a:p>
        </p:txBody>
      </p:sp>
      <p:sp>
        <p:nvSpPr>
          <p:cNvPr id="8" name="Oval 7"/>
          <p:cNvSpPr/>
          <p:nvPr/>
        </p:nvSpPr>
        <p:spPr>
          <a:xfrm>
            <a:off x="8183879" y="2788920"/>
            <a:ext cx="128016" cy="128016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39911" y="276148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0C2340"/>
                </a:solidFill>
                <a:latin typeface="Calibri"/>
              </a:rPr>
              <a:t>Rays  </a:t>
            </a:r>
            <a:r>
              <a:rPr sz="1200" b="0" i="0">
                <a:solidFill>
                  <a:srgbClr val="6B7280"/>
                </a:solidFill>
                <a:latin typeface="Calibri"/>
              </a:rPr>
              <a:t>.602, weak OF</a:t>
            </a:r>
          </a:p>
        </p:txBody>
      </p:sp>
      <p:sp>
        <p:nvSpPr>
          <p:cNvPr id="10" name="Oval 9"/>
          <p:cNvSpPr/>
          <p:nvPr/>
        </p:nvSpPr>
        <p:spPr>
          <a:xfrm>
            <a:off x="8183879" y="3355847"/>
            <a:ext cx="128016" cy="128016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911" y="3328415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0C2340"/>
                </a:solidFill>
                <a:latin typeface="Calibri"/>
              </a:rPr>
              <a:t>Marlins  </a:t>
            </a:r>
            <a:r>
              <a:rPr sz="1200" b="0" i="0">
                <a:solidFill>
                  <a:srgbClr val="6B7280"/>
                </a:solidFill>
                <a:latin typeface="Calibri"/>
              </a:rPr>
              <a:t>in the hunt, thin OF</a:t>
            </a:r>
          </a:p>
        </p:txBody>
      </p:sp>
      <p:sp>
        <p:nvSpPr>
          <p:cNvPr id="12" name="Oval 11"/>
          <p:cNvSpPr/>
          <p:nvPr/>
        </p:nvSpPr>
        <p:spPr>
          <a:xfrm>
            <a:off x="8183879" y="3922776"/>
            <a:ext cx="128016" cy="128016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1" y="3895344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0C2340"/>
                </a:solidFill>
                <a:latin typeface="Calibri"/>
              </a:rPr>
              <a:t>Guardians  </a:t>
            </a:r>
            <a:r>
              <a:rPr sz="1200" b="0" i="0">
                <a:solidFill>
                  <a:srgbClr val="6B7280"/>
                </a:solidFill>
                <a:latin typeface="Calibri"/>
              </a:rPr>
              <a:t>contender, OF need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709160"/>
            <a:ext cx="3657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 i="0">
                <a:solidFill>
                  <a:srgbClr val="20232A"/>
                </a:solidFill>
                <a:latin typeface="Calibri"/>
              </a:rPr>
              <a:t>Trade a redundant bat to a team that needs one — and take back the </a:t>
            </a:r>
            <a:r>
              <a:rPr sz="1250" b="1" i="0">
                <a:solidFill>
                  <a:srgbClr val="2E7D32"/>
                </a:solidFill>
                <a:latin typeface="Calibri"/>
              </a:rPr>
              <a:t>hitting/youth</a:t>
            </a:r>
            <a:r>
              <a:rPr sz="1250" b="0" i="0">
                <a:solidFill>
                  <a:srgbClr val="20232A"/>
                </a:solidFill>
                <a:latin typeface="Calibri"/>
              </a:rPr>
              <a:t> Boston is short 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Boston Red Sox · Outfield Strategy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Analysis: Statcast / FanGraphs / MLB Stats API · salary Spotrac ·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D3039"/>
                </a:solidFill>
                <a:latin typeface="Calibri"/>
              </a:rPr>
              <a:t>THE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C2340"/>
                </a:solidFill>
                <a:latin typeface="Cambria"/>
              </a:rPr>
              <a:t>Solve it this winter, from a position of strength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01368"/>
            <a:ext cx="457200" cy="457200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783080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0C2340"/>
                </a:solidFill>
                <a:latin typeface="Cambria"/>
              </a:rPr>
              <a:t>Hold through 2026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No contention urgency and Anthony hurt — keep Duran's bat, let his value rebound off an unlucky first half.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971800"/>
            <a:ext cx="457200" cy="457200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53512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0C2340"/>
                </a:solidFill>
                <a:latin typeface="Cambria"/>
              </a:rPr>
              <a:t>Deal Duran in the offseason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Anthony's healthy (jam returns), value restored. Trade him — plus Yoshida money — for controllable bats, not arms.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4142231"/>
            <a:ext cx="457200" cy="457200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123944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0C2340"/>
                </a:solidFill>
                <a:latin typeface="Cambria"/>
              </a:rPr>
              <a:t>Run it back in 2027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OF = Anthony / Rafaela / Abreu; strong rotation intact; DH opens after 2027. A cheaper, younger, more balanced roster.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1783080"/>
            <a:ext cx="3794760" cy="3337560"/>
          </a:xfrm>
          <a:prstGeom prst="roundRect">
            <a:avLst>
              <a:gd name="adj" fmla="val 8000"/>
            </a:avLst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0116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9D2E3"/>
                </a:solidFill>
                <a:latin typeface="Calibri"/>
              </a:rPr>
              <a:t>THE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48716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F0B8BC"/>
                </a:solidFill>
                <a:latin typeface="Calibri"/>
              </a:rPr>
              <a:t>Sell now (nadir)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~$10–15M · a 45-FV bat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5204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A9E5B5"/>
                </a:solidFill>
                <a:latin typeface="Calibri"/>
              </a:rPr>
              <a:t>Sell after rebound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~$28M · a 50-FV, top-100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controllable talent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61772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C9D2E3"/>
                </a:solidFill>
                <a:latin typeface="Calibri"/>
              </a:rPr>
              <a:t>One grade of return = the reason to wait.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Boston Red Sox · Outfield Strategy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Analysis: Statcast / FanGraphs / MLB Stats API · salary Spotrac ·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6928" y="640080"/>
            <a:ext cx="310896" cy="310896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6217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Calibri"/>
              </a:rPr>
              <a:t>BOTTOM LINE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37943"/>
            <a:ext cx="164592" cy="164592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FFFFF"/>
                </a:solidFill>
                <a:latin typeface="Cambria"/>
              </a:rPr>
              <a:t>Keep the strength.  </a:t>
            </a:r>
            <a:r>
              <a:rPr sz="1500" b="0" i="0">
                <a:solidFill>
                  <a:srgbClr val="CDD4E2"/>
                </a:solidFill>
                <a:latin typeface="Calibri"/>
              </a:rPr>
              <a:t>A top-10 rotation and a cheap, young OF core are the foundation — don't trade into them.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3072384"/>
            <a:ext cx="164592" cy="164592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FFFFF"/>
                </a:solidFill>
                <a:latin typeface="Cambria"/>
              </a:rPr>
              <a:t>Cash the surplus, not the slump.  </a:t>
            </a:r>
            <a:r>
              <a:rPr sz="1500" b="0" i="0">
                <a:solidFill>
                  <a:srgbClr val="CDD4E2"/>
                </a:solidFill>
                <a:latin typeface="Calibri"/>
              </a:rPr>
              <a:t>Move Duran this winter after a value rebound, for bats and youth — sell the 2025 player, not the unlucky 2026 one.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4306824"/>
            <a:ext cx="164592" cy="164592"/>
          </a:xfrm>
          <a:prstGeom prst="ellipse">
            <a:avLst/>
          </a:prstGeom>
          <a:solidFill>
            <a:srgbClr val="BD3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FFFFF"/>
                </a:solidFill>
                <a:latin typeface="Cambria"/>
              </a:rPr>
              <a:t>Quarantine the dead money.  </a:t>
            </a:r>
            <a:r>
              <a:rPr sz="1500" b="0" i="0">
                <a:solidFill>
                  <a:srgbClr val="CDD4E2"/>
                </a:solidFill>
                <a:latin typeface="Calibri"/>
              </a:rPr>
              <a:t>Absorb Yoshida; free the 2027 payroll and the DH slot.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 i="0">
                <a:solidFill>
                  <a:srgbClr val="9AA6BC"/>
                </a:solidFill>
                <a:latin typeface="Calibri"/>
              </a:rPr>
              <a:t>Confidence: </a:t>
            </a:r>
            <a:r>
              <a:rPr sz="1250" b="0" i="1">
                <a:solidFill>
                  <a:srgbClr val="9AA6BC"/>
                </a:solidFill>
                <a:latin typeface="Calibri"/>
              </a:rPr>
              <a:t>high that 2024 shouldn't be the anchor and pitching is a strength; the open question is how much of 2026's skill dip (chase, whiff, hard-hit are all worse) persists — the one thing to watch before selling.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