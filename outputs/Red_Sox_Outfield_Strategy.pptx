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566928"/>
            <a:ext cx="310896" cy="31089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Calibri"/>
              </a:rPr>
              <a:t>BOSTON RED SOX  ·  ROSTER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Turning the Outfield Logjam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BD3039"/>
                </a:solidFill>
                <a:latin typeface="Cambria"/>
              </a:rPr>
              <a:t>into an Asset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Calibri"/>
              </a:rPr>
              <a:t>Five bats for four spots. The pitching is carrying the team — so the fix isn't to buy arms, it's to convert a redundant outfield into the offense and youth the roster actually needs.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Calibri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A down year for the bats — but a rare surplus in the grass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BD3039"/>
                </a:solidFill>
                <a:latin typeface="Cambria"/>
              </a:rPr>
              <a:t>~70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libri"/>
              </a:rPr>
              <a:t>win pace in 2026 (37-48)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the offense, not the pitching, is the drag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C2340"/>
                </a:solidFill>
                <a:latin typeface="Cambria"/>
              </a:rPr>
              <a:t>Top-10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libri"/>
              </a:rPr>
              <a:t>starting rotation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8th in WAR, 9th in ERA (3.76) — a strength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C2340"/>
                </a:solidFill>
                <a:latin typeface="Cambria"/>
              </a:rPr>
              <a:t>5 →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libri"/>
              </a:rPr>
              <a:t>OF/DH for four spots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the one area of genuine roster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20232A"/>
                </a:solidFill>
                <a:latin typeface="Calibri"/>
              </a:rPr>
              <a:t>The Sox aren't buying their way to a 2026 title. </a:t>
            </a:r>
            <a:r>
              <a:rPr sz="1500" b="0" i="0">
                <a:solidFill>
                  <a:srgbClr val="20232A"/>
                </a:solidFill>
                <a:latin typeface="Calibri"/>
              </a:rPr>
              <a:t>They're setting up 2027 around a strong rotation and a cheap young outfield core. Right now the jam is even </a:t>
            </a:r>
            <a:r>
              <a:rPr sz="1500" b="1" i="0">
                <a:solidFill>
                  <a:srgbClr val="BD3039"/>
                </a:solidFill>
                <a:latin typeface="Calibri"/>
              </a:rPr>
              <a:t>masked by Roman Anthony's injury</a:t>
            </a:r>
            <a:r>
              <a:rPr sz="1500" b="0" i="0">
                <a:solidFill>
                  <a:srgbClr val="20232A"/>
                </a:solidFill>
                <a:latin typeface="Calibri"/>
              </a:rPr>
              <a:t> (60-day IL) — which makes it a 2027 problem to solve this winter, not a deadline scramble.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The young, cheap, controllable core — that's the 2027 outfield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C2340"/>
                </a:solidFill>
                <a:latin typeface="Cambria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E7D32"/>
                </a:solidFill>
                <a:latin typeface="Cambria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0232A"/>
                </a:solidFill>
                <a:latin typeface="Calibri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C2340"/>
                </a:solidFill>
                <a:latin typeface="Cambria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E7D32"/>
                </a:solidFill>
                <a:latin typeface="Cambria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0232A"/>
                </a:solidFill>
                <a:latin typeface="Calibri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C2340"/>
                </a:solidFill>
                <a:latin typeface="Cambria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E7D32"/>
                </a:solidFill>
                <a:latin typeface="Cambria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0232A"/>
                </a:solidFill>
                <a:latin typeface="Calibri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0C2340"/>
                </a:solidFill>
                <a:latin typeface="Calibri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The two that don't fit: a redundant bat and a dead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C2340"/>
                </a:solidFill>
                <a:latin typeface="Cambria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D3039"/>
                </a:solidFill>
                <a:latin typeface="Calibri"/>
              </a:rPr>
              <a:t>LF/CF · 29 · $7.7M</a:t>
            </a:r>
          </a:p>
        </p:txBody>
      </p:sp>
      <p:sp>
        <p:nvSpPr>
          <p:cNvPr id="7" name="Oval 6"/>
          <p:cNvSpPr/>
          <p:nvPr/>
        </p:nvSpPr>
        <p:spPr>
          <a:xfrm>
            <a:off x="859536" y="3108960"/>
            <a:ext cx="118872" cy="11887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Movable piece.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Oval 8"/>
          <p:cNvSpPr/>
          <p:nvPr/>
        </p:nvSpPr>
        <p:spPr>
          <a:xfrm>
            <a:off x="859536" y="4251959"/>
            <a:ext cx="118872" cy="11887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The asset to sell.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The one everyday, controllable OF a contender will pay real prospects for.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C2340"/>
                </a:solidFill>
                <a:latin typeface="Cambria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6B7280"/>
                </a:solidFill>
                <a:latin typeface="Calibri"/>
              </a:rPr>
              <a:t>DH · 32 · $18.6M</a:t>
            </a:r>
          </a:p>
        </p:txBody>
      </p:sp>
      <p:sp>
        <p:nvSpPr>
          <p:cNvPr id="14" name="Oval 13"/>
          <p:cNvSpPr/>
          <p:nvPr/>
        </p:nvSpPr>
        <p:spPr>
          <a:xfrm>
            <a:off x="6519672" y="3108960"/>
            <a:ext cx="118872" cy="118872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Dead money.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$18.6M through 2027 for a DH-only, below-average bat. Negative trade value.</a:t>
            </a:r>
          </a:p>
        </p:txBody>
      </p:sp>
      <p:sp>
        <p:nvSpPr>
          <p:cNvPr id="16" name="Oval 15"/>
          <p:cNvSpPr/>
          <p:nvPr/>
        </p:nvSpPr>
        <p:spPr>
          <a:xfrm>
            <a:off x="6519672" y="4251959"/>
            <a:ext cx="118872" cy="118872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Absorb, don't chase.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Let it expire as a platoon DH, or move only in a partial salary-dump. Don't pay to escape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Duran's 2026 is unlucky — not a true collapse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040880" y="1819656"/>
            <a:ext cx="146304" cy="146304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783080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C2340"/>
                </a:solidFill>
                <a:latin typeface="Calibri"/>
              </a:rPr>
              <a:t>2024 was earned, not a fluke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His BABIP (.344) sat close to his contact-quality xBABIP (.333); xwOBA .340 was legit. A good year, only modestly lucky.</a:t>
            </a:r>
          </a:p>
        </p:txBody>
      </p:sp>
      <p:sp>
        <p:nvSpPr>
          <p:cNvPr id="7" name="Oval 6"/>
          <p:cNvSpPr/>
          <p:nvPr/>
        </p:nvSpPr>
        <p:spPr>
          <a:xfrm>
            <a:off x="7040880" y="3081528"/>
            <a:ext cx="146304" cy="146304"/>
          </a:xfrm>
          <a:prstGeom prst="ellipse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3044952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C2340"/>
                </a:solidFill>
                <a:latin typeface="Calibri"/>
              </a:rPr>
              <a:t>2026 is the real anomaly — downward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wOBA .265 sits BELOW its xwOBA .286; BABIP .244 vs .311 expected. Real skill erosion, but the line is worse than the player.</a:t>
            </a:r>
          </a:p>
        </p:txBody>
      </p:sp>
      <p:sp>
        <p:nvSpPr>
          <p:cNvPr id="9" name="Oval 8"/>
          <p:cNvSpPr/>
          <p:nvPr/>
        </p:nvSpPr>
        <p:spPr>
          <a:xfrm>
            <a:off x="7040880" y="4343400"/>
            <a:ext cx="146304" cy="14630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4306824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C2340"/>
                </a:solidFill>
                <a:latin typeface="Calibri"/>
              </a:rPr>
              <a:t>True talent ≈ his 2025 (~110 wRC+)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An above-average regular. Both the 2024 high and 2026 low are tails around that.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56144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1">
                <a:solidFill>
                  <a:srgbClr val="BD3039"/>
                </a:solidFill>
                <a:latin typeface="Calibri"/>
              </a:rPr>
              <a:t>Selling now cashes the slump. Value hinges on the rebound.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10,000 simulations: the rebound is likely — unless the erosion is real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74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6B7280"/>
                </a:solidFill>
                <a:latin typeface="Calibri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2E7D32"/>
                </a:solidFill>
                <a:latin typeface="Cambria"/>
              </a:rPr>
              <a:t>69%</a:t>
            </a:r>
            <a:r>
              <a:rPr sz="1250" b="0" i="0">
                <a:solidFill>
                  <a:srgbClr val="6B7280"/>
                </a:solidFill>
                <a:latin typeface="Calibri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BD3039"/>
                </a:solidFill>
                <a:latin typeface="Cambria"/>
              </a:rPr>
              <a:t>47%</a:t>
            </a:r>
            <a:r>
              <a:rPr sz="1250" b="0" i="0">
                <a:solidFill>
                  <a:srgbClr val="6B7280"/>
                </a:solidFill>
                <a:latin typeface="Calibri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6B7280"/>
                </a:solidFill>
                <a:latin typeface="Calibri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0C2340"/>
                </a:solidFill>
                <a:latin typeface="Cambria"/>
              </a:rPr>
              <a:t>$22M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 vs </a:t>
            </a:r>
            <a:r>
              <a:rPr sz="2400" b="1" i="0">
                <a:solidFill>
                  <a:srgbClr val="0C2340"/>
                </a:solidFill>
                <a:latin typeface="Cambria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BD3039"/>
                </a:solidFill>
                <a:latin typeface="Calibri"/>
              </a:rPr>
              <a:t>The honest line: </a:t>
            </a:r>
            <a:r>
              <a:rPr sz="1350" b="0" i="0">
                <a:solidFill>
                  <a:srgbClr val="20232A"/>
                </a:solidFill>
                <a:latin typeface="Calibri"/>
              </a:rPr>
              <a:t>the 22-point probability gap is the price of the worse chase / whiff / hard-hit rates. Hold-through-2026 survives the erosion stress test —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The bat speed says it's the approach — not the body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21" y="1554480"/>
            <a:ext cx="8993709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2E7D32"/>
                </a:solidFill>
                <a:latin typeface="Cambria"/>
              </a:rPr>
              <a:t>74.5 mph</a:t>
            </a:r>
            <a:r>
              <a:rPr sz="1050" b="0" i="0">
                <a:solidFill>
                  <a:srgbClr val="6B7280"/>
                </a:solidFill>
                <a:latin typeface="Calibri"/>
              </a:rPr>
              <a:t>  avg bat speed, 2026 —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20232A"/>
                </a:solidFill>
                <a:latin typeface="Calibri"/>
              </a:rPr>
              <a:t>A declining hitter swings slower. Duran is swinging harder, longer and steeper — pressing, not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BD3039"/>
                </a:solidFill>
                <a:latin typeface="Cambria"/>
              </a:rPr>
              <a:t>29% whiff vs 95+</a:t>
            </a:r>
            <a:r>
              <a:rPr sz="1050" b="0" i="0">
                <a:solidFill>
                  <a:srgbClr val="6B7280"/>
                </a:solidFill>
                <a:latin typeface="Calibri"/>
              </a:rPr>
              <a:t>  up from 16% in '24 — but not bat-death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20232A"/>
                </a:solidFill>
                <a:latin typeface="Calibri"/>
              </a:rPr>
              <a:t>Whiffs on a rising bat speed = selling out. The chase leak is velo/offspeed; breaking-ball chase actually improved.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C2340"/>
                </a:solidFill>
                <a:latin typeface="Cambria"/>
              </a:rPr>
              <a:t>60 / 40</a:t>
            </a:r>
            <a:r>
              <a:rPr sz="1050" b="0" i="0">
                <a:solidFill>
                  <a:srgbClr val="6B7280"/>
                </a:solidFill>
                <a:latin typeface="Calibri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20232A"/>
                </a:solidFill>
                <a:latin typeface="Calibri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Aging doesn't explain the drop — regression and luck do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0232A"/>
                </a:solidFill>
                <a:latin typeface="Calibri"/>
              </a:rPr>
              <a:t>2024 → 2026 wRC+ fell ~70 points; a normal age 27→29 curve predicts only ~7. </a:t>
            </a:r>
            <a:r>
              <a:rPr sz="1400" b="1" i="0">
                <a:solidFill>
                  <a:srgbClr val="0C2340"/>
                </a:solidFill>
                <a:latin typeface="Calibri"/>
              </a:rPr>
              <a:t>The gap is mean-reversion from an inflated peak plus a 2026 bad-luck tail — not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WHAT TO GET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Pitching is the strength — spend the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20232A"/>
                </a:solidFill>
                <a:latin typeface="Calibri"/>
              </a:rPr>
              <a:t>With a top-10 rotation (3.76 ERA) already carrying the club, trading bats for arms is backwards.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2724912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C2340"/>
                </a:solidFill>
                <a:latin typeface="Cambria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6864" y="2724912"/>
            <a:ext cx="384048" cy="384048"/>
          </a:xfrm>
          <a:prstGeom prst="ellipse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C2340"/>
                </a:solidFill>
                <a:latin typeface="Cambria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In a retool you take the best player, not the positional patch —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0" y="2724912"/>
            <a:ext cx="384048" cy="384048"/>
          </a:xfrm>
          <a:prstGeom prst="ellipse">
            <a:avLst/>
          </a:prstGeom>
          <a:solidFill>
            <a:srgbClr val="B78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C2340"/>
                </a:solidFill>
                <a:latin typeface="Cambria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0C2340"/>
                </a:solidFill>
                <a:latin typeface="Calibri"/>
              </a:rPr>
              <a:t>Keep the arms. Cash the outfield. </a:t>
            </a:r>
            <a:r>
              <a:rPr sz="1400" b="0" i="1">
                <a:solidFill>
                  <a:srgbClr val="6B7280"/>
                </a:solidFill>
                <a:latin typeface="Calibri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Who pays: contenders with a hole in the outfield</a:t>
            </a:r>
          </a:p>
        </p:txBody>
      </p:sp>
      <p:pic>
        <p:nvPicPr>
          <p:cNvPr id="4" name="Picture 3" descr="08_trade_fit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1463040"/>
            <a:ext cx="6715125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6916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mbria"/>
              </a:rPr>
              <a:t>Best-fit buyers</a:t>
            </a:r>
          </a:p>
        </p:txBody>
      </p:sp>
      <p:sp>
        <p:nvSpPr>
          <p:cNvPr id="6" name="Oval 5"/>
          <p:cNvSpPr/>
          <p:nvPr/>
        </p:nvSpPr>
        <p:spPr>
          <a:xfrm>
            <a:off x="8183879" y="2221991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1" y="21945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Phillies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contender, 88 OF wRC+</a:t>
            </a:r>
          </a:p>
        </p:txBody>
      </p:sp>
      <p:sp>
        <p:nvSpPr>
          <p:cNvPr id="8" name="Oval 7"/>
          <p:cNvSpPr/>
          <p:nvPr/>
        </p:nvSpPr>
        <p:spPr>
          <a:xfrm>
            <a:off x="8183879" y="2788920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1" y="276148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Rays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.602, weak OF</a:t>
            </a:r>
          </a:p>
        </p:txBody>
      </p:sp>
      <p:sp>
        <p:nvSpPr>
          <p:cNvPr id="10" name="Oval 9"/>
          <p:cNvSpPr/>
          <p:nvPr/>
        </p:nvSpPr>
        <p:spPr>
          <a:xfrm>
            <a:off x="8183879" y="3355847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33284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Marlins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in the hunt, thin OF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922776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89534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Guardians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contender, OF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70916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 i="0">
                <a:solidFill>
                  <a:srgbClr val="20232A"/>
                </a:solidFill>
                <a:latin typeface="Calibri"/>
              </a:rPr>
              <a:t>Trade a redundant bat to a team that needs one — and take back the </a:t>
            </a:r>
            <a:r>
              <a:rPr sz="1250" b="1" i="0">
                <a:solidFill>
                  <a:srgbClr val="2E7D32"/>
                </a:solidFill>
                <a:latin typeface="Calibri"/>
              </a:rPr>
              <a:t>hitting/youth</a:t>
            </a:r>
            <a:r>
              <a:rPr sz="1250" b="0" i="0">
                <a:solidFill>
                  <a:srgbClr val="20232A"/>
                </a:solidFill>
                <a:latin typeface="Calibri"/>
              </a:rPr>
              <a:t> Boston is short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Solve it this winter, from a position of strength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01368"/>
            <a:ext cx="457200" cy="457200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0C2340"/>
                </a:solidFill>
                <a:latin typeface="Cambria"/>
              </a:rPr>
              <a:t>Hold through 2026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No contention urgency and Anthony hurt — keep Duran's bat, let his value rebound off an unlucky first half.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0C2340"/>
                </a:solidFill>
                <a:latin typeface="Cambria"/>
              </a:rPr>
              <a:t>Deal Duran in the offseason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Anthony's healthy (jam returns), value restored. Trade him — plus Yoshida money — for controllable bats, not arms.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142231"/>
            <a:ext cx="457200" cy="457200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0C2340"/>
                </a:solidFill>
                <a:latin typeface="Cambria"/>
              </a:rPr>
              <a:t>Run it back in 2027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OF = Anthony / Rafaela / Abreu; strong rotation intact; DH opens after 2027. A cheaper, younger, more balanced roster.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8000"/>
            </a:avLst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Calibri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Calibri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Calibri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Calibri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640080"/>
            <a:ext cx="310896" cy="31089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Calibri"/>
              </a:rPr>
              <a:t>BOTTOM LINE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37943"/>
            <a:ext cx="164592" cy="16459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Keep the strength.  </a:t>
            </a:r>
            <a:r>
              <a:rPr sz="1500" b="0" i="0">
                <a:solidFill>
                  <a:srgbClr val="CDD4E2"/>
                </a:solidFill>
                <a:latin typeface="Calibri"/>
              </a:rPr>
              <a:t>A top-10 rotation and a cheap, young OF core are the foundation — don't trade into them.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072384"/>
            <a:ext cx="164592" cy="16459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Calibri"/>
              </a:rPr>
              <a:t>Move Duran this winter after a value rebound, for bats and youth — sell the 2025 player, not the unlucky 2026 one.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306824"/>
            <a:ext cx="164592" cy="16459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Quarantine the dead money.  </a:t>
            </a:r>
            <a:r>
              <a:rPr sz="1500" b="0" i="0">
                <a:solidFill>
                  <a:srgbClr val="CDD4E2"/>
                </a:solidFill>
                <a:latin typeface="Calibri"/>
              </a:rPr>
              <a:t>Absorb Yoshida; free the 2027 payroll and the DH slot.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Calibri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Calibri"/>
              </a:rPr>
              <a:t>high that 2024 shouldn't be the anchor and pitching is a strength; the open question is how much of 2026's skill dip (chase, whiff, hard-hit are all worse) persists —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