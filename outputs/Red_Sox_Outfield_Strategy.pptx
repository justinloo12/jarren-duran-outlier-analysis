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D2E3"/>
                </a:solidFill>
                <a:latin typeface="Arial"/>
              </a:rPr>
              <a:t>BOSTON RED SOX  ·  TRADE DEADLINE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4F7FC"/>
                </a:solidFill>
                <a:latin typeface="Arial"/>
              </a:rPr>
              <a:t>Don't Count Out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E8615A"/>
                </a:solidFill>
                <a:latin typeface="Arial"/>
              </a:rPr>
              <a:t>The Sox.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3D9E6"/>
                </a:solidFill>
                <a:latin typeface="Arial"/>
              </a:rPr>
              <a:t>The hottest team in baseball was supposed to sell. A lookahead to the trade deadline, now 11 days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C97AC"/>
                </a:solidFill>
                <a:latin typeface="Arial"/>
              </a:rPr>
              <a:t>A data-driven roster case study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hottest team in baseball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8615A"/>
                </a:solidFill>
                <a:latin typeface="Arial"/>
              </a:rPr>
              <a:t>W13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winning streak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longest run in the majors this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F0F8"/>
                </a:solidFill>
                <a:latin typeface="Arial"/>
              </a:rPr>
              <a:t>+45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run differential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outplaying their .515 record all season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F0F8"/>
                </a:solidFill>
                <a:latin typeface="Arial"/>
              </a:rP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playoff odds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10,000 sims of the rest of the season (fig.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 i="0">
                <a:solidFill>
                  <a:srgbClr val="D9E1EF"/>
                </a:solidFill>
                <a:latin typeface="Arial"/>
              </a:rPr>
              <a:t>A month ago the easy take was sell. </a:t>
            </a:r>
            <a:r>
              <a:rPr sz="1500" b="0" i="0">
                <a:solidFill>
                  <a:srgbClr val="D9E1EF"/>
                </a:solidFill>
                <a:latin typeface="Arial"/>
              </a:rPr>
              <a:t>The outfield jam, still </a:t>
            </a:r>
            <a:r>
              <a:rPr sz="1500" b="1" i="0">
                <a:solidFill>
                  <a:srgbClr val="E8615A"/>
                </a:solidFill>
                <a:latin typeface="Arial"/>
              </a:rPr>
              <a:t>masked by Roman Anthony's injury</a:t>
            </a:r>
            <a:r>
              <a:rPr sz="1500" b="0" i="0">
                <a:solidFill>
                  <a:srgbClr val="D9E1EF"/>
                </a:solidFill>
                <a:latin typeface="Arial"/>
              </a:rPr>
              <a:t>, is now a buyer's depth chart: the surplus funds the deadline instead of a teardown.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Buy, but keep it small</a:t>
            </a:r>
          </a:p>
        </p:txBody>
      </p:sp>
      <p:pic>
        <p:nvPicPr>
          <p:cNvPr id="4" name="Picture 3" descr="12_playoff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" y="1554480"/>
            <a:ext cx="6814108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81965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8308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Hold Duran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Value at its nadir; his July contact (~.35 xwOBA) is already surging. Re-price in winter.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1455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310896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Keep the vets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Gray, Chapman, Contreras are playoff innings now. Sell branch reopens only if the gap blows out by Aug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47141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443484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Add small, without disturbing the room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A reliever first, maybe an infield bat, prospects before big-leaguers, empty spots before hot ones. The catcher tandem stays.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779007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1">
                <a:solidFill>
                  <a:srgbClr val="E8615A"/>
                </a:solidFill>
                <a:latin typeface="Arial"/>
              </a:rPr>
              <a:t>The team is its left fielder: process better than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young, cheap, controllable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Roman Anthony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LF · age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3.8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$2.6M · 8yr/$130M 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Franchise bat. Untouchable. On the IL now, back in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Ceddanne Rafaela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CF · age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$2.0M · 8yr/$50M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Elite center-field glove + SS/utility flex. Premium position, controlled cheap.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Wilyer Abreu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RF · age 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2.8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$0.8M · pre-arb → 2029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Best surplus on the roster: plus RF glove, above-average LH bat.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EAF0F8"/>
                </a:solidFill>
                <a:latin typeface="Arial"/>
              </a:rPr>
              <a:t>Three spots, locked. Everything else flexes around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two hard cases: a redundant bat and an underwater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5358384" cy="3611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02996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Jarren Duran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42032"/>
            <a:ext cx="4809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615A"/>
                </a:solidFill>
                <a:latin typeface="Arial"/>
              </a:rPr>
              <a:t>LF/CF · 29 · $7.7M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3108960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Movable piece.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Controllable through 2028; above-average at true talent (~110 wRC+). Redundant behind the core and the priciest of the young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4251959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Hold at the deadline.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Value at its nadir; xstats say the market under-prices him. Re-price in winter, after the rebound shows (or doesn't).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5358384" cy="3611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Masataka Yoshida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42032"/>
            <a:ext cx="4809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93A0B6"/>
                </a:solidFill>
                <a:latin typeface="Arial"/>
              </a:rPr>
              <a:t>DH · 32 · $18.6M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3108960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93A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063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The contract, not the bat.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He's hitting: above-average wRC+, .340-class OBP, one of MLB's lowest strikeout rates. $18.6M for a DH with below-average pop is still underwater as an asset.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4251959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93A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4206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Keep him in the lineup.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Gonzalez covers the tougher lefties. Absorb the deal, let it expire.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DON'T SELL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Duran's 2026 is unlucky</a:t>
            </a:r>
          </a:p>
        </p:txBody>
      </p:sp>
      <p:pic>
        <p:nvPicPr>
          <p:cNvPr id="4" name="Picture 3" descr="01_babip_vs_lea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309360" cy="39433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70078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33488" y="166420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2024 was more what we should expect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BABIP .344 vs xBABIP .333; xwOBA .340 legit. Credit his speed's usual edge over xstats and the true luck is only +5 to +14 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761488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2724912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2026 is the real anomaly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wOBA .263 BELOW its .293 xwOBA, 34 to 43 pts under his own norm; BABIP .238 vs .309 expected. Erosion real, luck worse.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822191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3785615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legs are fine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Career gap +19 home / +19 road: identical, the skill travels. Speed, baserunning and fielding all still plus. No injury.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88289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48463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True talent ≈ his 2025 (~110 wRC+)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An above-average regular. The 2024 high and 2026 low are tails around that plateau.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93445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1">
                <a:solidFill>
                  <a:srgbClr val="E8615A"/>
                </a:solidFill>
                <a:latin typeface="Arial"/>
              </a:rPr>
              <a:t>Selling now cashes the slump. Value hinges on the rebound.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REBOUND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10,000 simulations: the rebound is likely</a:t>
            </a:r>
          </a:p>
        </p:txBody>
      </p:sp>
      <p:pic>
        <p:nvPicPr>
          <p:cNvPr id="4" name="Picture 3" descr="09_rebound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589520" cy="3274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645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3A0B6"/>
                </a:solidFill>
                <a:latin typeface="Arial"/>
              </a:rPr>
              <a:t>P(REST-OF-SEASON wRC+ ≥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58C08D"/>
                </a:solidFill>
                <a:latin typeface="Arial"/>
              </a:rPr>
              <a:t>69%</a:t>
            </a:r>
            <a:r>
              <a:rPr sz="1250" b="0" i="0">
                <a:solidFill>
                  <a:srgbClr val="93A0B6"/>
                </a:solidFill>
                <a:latin typeface="Arial"/>
              </a:rPr>
              <a:t>  healthy prior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615A"/>
                </a:solidFill>
                <a:latin typeface="Arial"/>
              </a:rPr>
              <a:t>47%</a:t>
            </a:r>
            <a:r>
              <a:rPr sz="1250" b="0" i="0">
                <a:solidFill>
                  <a:srgbClr val="93A0B6"/>
                </a:solidFill>
                <a:latin typeface="Arial"/>
              </a:rPr>
              <a:t>  erosion-blended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520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3A0B6"/>
                </a:solidFill>
                <a:latin typeface="Arial"/>
              </a:rPr>
              <a:t>EXPECTED OFFSEASON TRADE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8404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 i="0">
                <a:solidFill>
                  <a:srgbClr val="EAF0F8"/>
                </a:solidFill>
                <a:latin typeface="Arial"/>
              </a:rPr>
              <a:t>$22M</a:t>
            </a:r>
            <a:r>
              <a:rPr sz="1300" b="0" i="0">
                <a:solidFill>
                  <a:srgbClr val="93A0B6"/>
                </a:solidFill>
                <a:latin typeface="Arial"/>
              </a:rPr>
              <a:t> vs </a:t>
            </a:r>
            <a:r>
              <a:rPr sz="2400" b="1" i="0">
                <a:solidFill>
                  <a:srgbClr val="EAF0F8"/>
                </a:solidFill>
                <a:latin typeface="Arial"/>
              </a:rPr>
              <a:t>$18M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either way, well above the ~$10M a July sale fetches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235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E8615A"/>
                </a:solidFill>
                <a:latin typeface="Arial"/>
              </a:rPr>
              <a:t>The honest line: </a:t>
            </a:r>
            <a:r>
              <a:rPr sz="1350" b="0" i="0">
                <a:solidFill>
                  <a:srgbClr val="D9E1EF"/>
                </a:solidFill>
                <a:latin typeface="Arial"/>
              </a:rPr>
              <a:t>the 22-point probability gap is the price of the worse chase / whiff / hard-hit rates. Hold-through-2026 survives the erosion stress test, but with less confidence in the rebound narrative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TIEBREAKER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Swing Stats</a:t>
            </a:r>
          </a:p>
        </p:txBody>
      </p:sp>
      <p:pic>
        <p:nvPicPr>
          <p:cNvPr id="4" name="Picture 3" descr="10_erosio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21" y="1554480"/>
            <a:ext cx="8993709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58C08D"/>
                </a:solidFill>
                <a:latin typeface="Arial"/>
              </a:rPr>
              <a:t>74.5 mph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avg bat speed 2026, up from 72.7 in '24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Duran is swinging harder, longer and steeper. That's pressing, not fading.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8615A"/>
                </a:solidFill>
                <a:latin typeface="Arial"/>
              </a:rPr>
              <a:t>29% whiff vs 95+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up from 16% in '24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Whiffs on a rising bat speed = selling out. The chase leak is velo/offspeed; breaking-ball chase actually improved.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60 / 40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re-weighted scenario odds → 60% rebound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3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Approach is fixable (see his own 2022→23 chase overhaul); the tools a buyer prices are intact.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Aging doesn't explain the drop</a:t>
            </a:r>
          </a:p>
        </p:txBody>
      </p:sp>
      <p:pic>
        <p:nvPicPr>
          <p:cNvPr id="4" name="Picture 3" descr="04_age_curv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79" y="150876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D9E1EF"/>
                </a:solidFill>
                <a:latin typeface="Arial"/>
              </a:rPr>
              <a:t>2024 → 2026 wRC+ fell ~70 points; a normal age 27→29 curve predicts only ~7. </a:t>
            </a:r>
            <a:r>
              <a:rPr sz="1400" b="1" i="0">
                <a:solidFill>
                  <a:srgbClr val="EAF0F8"/>
                </a:solidFill>
                <a:latin typeface="Arial"/>
              </a:rPr>
              <a:t>The gap is mean-reversion from an inflated peak plus a 2026 bad-luck tail, not a skill cliff.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IF THEY BUY, 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roster's biggest hole is the Duran slump itself</a:t>
            </a:r>
          </a:p>
        </p:txBody>
      </p:sp>
      <p:pic>
        <p:nvPicPr>
          <p:cNvPr id="4" name="Picture 3" descr="13_positional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" y="1554480"/>
            <a:ext cx="7066483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LF −31: internal fix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Duran's regression, now sheltered by a Jahmai Jones platoon, plus Anthony's eventual return.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SS −18: the true target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One controllable infield stabilizer is the only lineup trade that fits the odds.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Bullpen: quiet weakness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ERA top-10 but FIP and reliever WAR rank far worse, it will regress without help.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Contreras twist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winter's reported sell candidate is now their best hitter. Moving him would be met with outrage.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SUPPORTING 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Career years everywhere. That's a tailwind, not a foundation</a:t>
            </a:r>
          </a:p>
        </p:txBody>
      </p:sp>
      <p:pic>
        <p:nvPicPr>
          <p:cNvPr id="4" name="Picture 3" descr="17_aaaa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7315200" cy="35934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15 quad-A contributors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Waiver claims, up-down arms and career minor-leaguers holding real roles, +3.0 WAR combined.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4 career bests, 4 rookies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Most of the returners are beating every season they've ever had; the rookies have no baseline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process check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Results sit within a few points of expected, they're earning it. The risk is track record: careers, not heaters, predict August.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So buy substance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Replace borrowed production before August returns it: a real reliever over a career-year one, a real bat over a waiver claim on a heater.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CHEMISTRY VETO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Don't Mess Up The Pitching Staff</a:t>
            </a:r>
          </a:p>
        </p:txBody>
      </p:sp>
      <p:pic>
        <p:nvPicPr>
          <p:cNvPr id="4" name="Picture 3" descr="14_batte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554480"/>
            <a:ext cx="7010399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staff works with both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3.42 RA9 with Wong, 4.20 with Narváez, the run-prevention core of the streak.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Every arm has a guy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Raw pairings look dramatic (fig. 14), but small samples shrink hard (fig. 15). What survives: settled, deliberate assignments.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pen is paired too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Leverage relievers ride with a settled catcher, these innings aren't assigned at random.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So: no catcher trade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adjusted model (pitcher/opponent/park controls) finds no significant catcher effect: -31 pts, 95% CI [-84, +21]. Nothing here for a trade to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Two custom models behind the calls</a:t>
            </a:r>
          </a:p>
        </p:txBody>
      </p:sp>
      <p:pic>
        <p:nvPicPr>
          <p:cNvPr id="4" name="Picture 3" descr="16_spe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4" y="1554480"/>
            <a:ext cx="728003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Speed-aware xBABIP / xwOBAcon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Gradient boosting on 77,928 league batted balls (EV, LA, spray ± sprint speed), 5-fold CV grouped by batter so every residual is out-of-sample.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blind spot, measured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Speed-blind xstats under-predict the fastest decile by +20 pts of BABIP. Duran's speed term: +23 pts of wOBA on contact, inside the +5–14 band derived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Adjusted battery model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WOWY + fixed-effects OLS (pitcher/opponent/park), cluster-bootstrap CIs, empirical-Bayes shrinkage (fig. 15): raw splits are mostly noise; no significant catcher effect.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Why it's credible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Out-of-sample everywhere, CIs on every headline, and frozen pre-registered predictions graded in October, flattering or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Three trades that fit, and one walk-away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C08D"/>
                </a:solidFill>
                <a:latin typeface="Arial"/>
              </a:rPr>
              <a:t>1 · THE PEN FIX · DO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RHP Luke Weaver (NYM)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a 45 FV + 40 FV, prospects only, nobody loses a job or an inning. Elite relief year, signed through '27. The highest-probability marginal win on the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56232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Arial"/>
              </a:rPr>
              <a:t>2 · THE STABILIZER · IF THE PRICE 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14884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2B Luis Arraez (SFG)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56032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Brayan Bello, the first deal that touches the active roster. Zero prospect cost; Arraez fills a patchwork platoon spot, not a hot regular's.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88620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50791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15A"/>
                </a:solidFill>
                <a:latin typeface="Arial"/>
              </a:rPr>
              <a:t>3 · THE BIG SWING · PROBABLY 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SS Zach Neto (LAA)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Tolle + Early + a 45 FV: two arms out of a winning rotation mid-streak. Franchise-window correct, and still there in the winter. Controlled through 2029.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88620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050791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B14E"/>
                </a:solidFill>
                <a:latin typeface="Arial"/>
              </a:rPr>
              <a:t>✗ · THE WALK-AWAY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4340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C Shea Langeliers (ATH)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5488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value math worked; the battery map is the veto. No August bat is worth resetting eight pitcher-catcher pairings in the middle of a streak built on run prevention.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D9E1EF"/>
                </a:solidFill>
                <a:latin typeface="Arial"/>
              </a:rPr>
              <a:t>A menu, not a plan, Boston can afford about two. </a:t>
            </a:r>
            <a:r>
              <a:rPr sz="1250" b="0" i="0">
                <a:solidFill>
                  <a:srgbClr val="93A0B6"/>
                </a:solidFill>
                <a:latin typeface="Arial"/>
              </a:rPr>
              <a:t>Full value math and verified contracts in the mock-trades memo. Hypotheticals, not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WINTER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Spend the pitching surplus on offense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 i="0">
                <a:solidFill>
                  <a:srgbClr val="D9E1EF"/>
                </a:solidFill>
                <a:latin typeface="Arial"/>
              </a:rPr>
              <a:t>If winter comes and Duran's rebound has shown up, this is what a deal should return. With a top-6 rotation (3.65 ERA) carrying the club, trading bats for arms is backwards, convert the outfield surplus into what's thin: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Controllable bats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Young, cost-controlled position players to fix an inconsistent lineup and lengthen it around the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Best talent / 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In a retool you take the best player, not the positional patch, prospects and MLB-ready youth over rentals.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Salary relief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Attach Yoshida money where possible; free payroll for the 2027 window.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1">
                <a:solidFill>
                  <a:srgbClr val="EAF0F8"/>
                </a:solidFill>
                <a:latin typeface="Arial"/>
              </a:rPr>
              <a:t>Keep the arms. Cash the outfield. </a:t>
            </a:r>
            <a:r>
              <a:rPr sz="1400" b="0" i="1">
                <a:solidFill>
                  <a:srgbClr val="93A0B6"/>
                </a:solidFill>
                <a:latin typeface="Arial"/>
              </a:rPr>
              <a:t>Build the 2027 lineup, don't rent the 2026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Who pays: contenders with a hole in the outfield</a:t>
            </a:r>
          </a:p>
        </p:txBody>
      </p:sp>
      <p:pic>
        <p:nvPicPr>
          <p:cNvPr id="4" name="Picture 3" descr="08_trade_fit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463040"/>
            <a:ext cx="6715125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6916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Best-fit buyers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2221991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9911" y="21945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Phillies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.557, 84 OF wRC+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788920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27614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Rays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.596, 88 OF wRC+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355847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3328415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Cardinals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.526, OF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922776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389534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Astros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fringe, weakest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70916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D9E1EF"/>
                </a:solidFill>
                <a:latin typeface="Arial"/>
              </a:rPr>
              <a:t>Trade a redundant bat to a team that needs one, and take back the </a:t>
            </a:r>
            <a:r>
              <a:rPr sz="1250" b="1" i="0">
                <a:solidFill>
                  <a:srgbClr val="58C08D"/>
                </a:solidFill>
                <a:latin typeface="Arial"/>
              </a:rPr>
              <a:t>hitting/youth</a:t>
            </a:r>
            <a:r>
              <a:rPr sz="1250" b="0" i="0">
                <a:solidFill>
                  <a:srgbClr val="D9E1EF"/>
                </a:solidFill>
                <a:latin typeface="Arial"/>
              </a:rPr>
              <a:t> Boston is short 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Buy now, decide on Duran in the winter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At the deadline: buy targeted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A controllable infield bat and a reliever, funded from the pitching surplus. Keep the vets, they're playoff innings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53512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Hold Duran through August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His value is at its nadir and his July contact quality (~.35 xwOBA) is already surging. Selling now cashes the slump.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42231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23944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Winter: re-price, then choose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Anthony healthy, jam returns. Rebound confirmed → extend or trade at full price. Erosion persists → sell at market. Either way, the 2027 OF is Anthony / Rafaela / Abreu.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783080"/>
            <a:ext cx="3794760" cy="3337560"/>
          </a:xfrm>
          <a:prstGeom prst="roundRect">
            <a:avLst>
              <a:gd name="adj" fmla="val 6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D2E3"/>
                </a:solidFill>
                <a:latin typeface="Arial"/>
              </a:rPr>
              <a:t>THE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8716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F0B8BC"/>
                </a:solidFill>
                <a:latin typeface="Arial"/>
              </a:rPr>
              <a:t>Sell now (nadir)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~$10–15M · a 45-FV 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5204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A9E5B5"/>
                </a:solidFill>
                <a:latin typeface="Arial"/>
              </a:rPr>
              <a:t>Sell after rebound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~$28M · a 50-FV, top-100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controllable talent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177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C9D2E3"/>
                </a:solidFill>
                <a:latin typeface="Arial"/>
              </a:rPr>
              <a:t>One grade of return = the reason to wait.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40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D2E3"/>
                </a:solidFill>
                <a:latin typeface="Arial"/>
              </a:rPr>
              <a:t>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37943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Play the hand.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77% playoff odds, +45 run differential, a wild card in hand, buy small (a reliever first), keep the vets, and let the record keep catching up to the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72384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Cash the surplus, not the slump.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Hold Duran through the deadline; re-price him in winter, extend or trade the 2025 player, never the unlucky 2026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06824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Stop fighting the Yoshida deal.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The bat is back to average or better; absorb the contract and let it expire.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23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9AA6BC"/>
                </a:solidFill>
                <a:latin typeface="Arial"/>
              </a:rPr>
              <a:t>Confidence: </a:t>
            </a:r>
            <a:r>
              <a:rPr sz="1250" b="0" i="1">
                <a:solidFill>
                  <a:srgbClr val="9AA6BC"/>
                </a:solidFill>
                <a:latin typeface="Arial"/>
              </a:rPr>
              <a:t>high that 2024 shouldn't be the anchor and pitching is a strength; the open question is how much of 2026's skill dip (chase, whiff, hard-hit are all worse) persists, the one thing to watch before selling.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