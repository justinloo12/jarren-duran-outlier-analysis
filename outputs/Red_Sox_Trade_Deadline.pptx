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66928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548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9D2E3"/>
                </a:solidFill>
                <a:latin typeface="Arial"/>
              </a:rPr>
              <a:t>BOSTON RED SOX  ·  TRADE DEADLINE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65960"/>
            <a:ext cx="11064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 i="0">
                <a:solidFill>
                  <a:srgbClr val="F4F7FC"/>
                </a:solidFill>
                <a:latin typeface="Arial"/>
              </a:rPr>
              <a:t>Red Sox Trade Deadline,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 i="0">
                <a:solidFill>
                  <a:srgbClr val="E8615A"/>
                </a:solidFill>
                <a:latin typeface="Arial"/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77639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3D9E6"/>
                </a:solidFill>
                <a:latin typeface="Arial"/>
              </a:rPr>
              <a:t>A buy/sell assessment built on live data: playoff odds, a positional audit, overvalue checks, and the trades that fit. 8 days to August 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8C97AC"/>
                </a:solidFill>
                <a:latin typeface="Arial"/>
              </a:rPr>
              <a:t>A data-driven roster case study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A contender by run differential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3502152" cy="214884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84831"/>
            <a:ext cx="3044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8615A"/>
                </a:solidFill>
                <a:latin typeface="Arial"/>
              </a:rPr>
              <a:t>53-50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9992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AF0F8"/>
                </a:solidFill>
                <a:latin typeface="Arial"/>
              </a:rPr>
              <a:t>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3467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93A0B6"/>
                </a:solidFill>
                <a:latin typeface="Arial"/>
              </a:rPr>
              <a:t>holding the final wild card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874519"/>
            <a:ext cx="3502152" cy="214884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084831"/>
            <a:ext cx="3044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AF0F8"/>
                </a:solidFill>
                <a:latin typeface="Arial"/>
              </a:rPr>
              <a:t>+41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9992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AF0F8"/>
                </a:solidFill>
                <a:latin typeface="Arial"/>
              </a:rPr>
              <a:t>run differential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33467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93A0B6"/>
                </a:solidFill>
                <a:latin typeface="Arial"/>
              </a:rPr>
              <a:t>outplaying their .515 record all season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874519"/>
            <a:ext cx="3502152" cy="214884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1" y="2084831"/>
            <a:ext cx="3044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AF0F8"/>
                </a:solidFill>
                <a:latin typeface="Arial"/>
              </a:rPr>
              <a:t>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992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AF0F8"/>
                </a:solidFill>
                <a:latin typeface="Arial"/>
              </a:rPr>
              <a:t>playoff odds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46704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93A0B6"/>
                </a:solidFill>
                <a:latin typeface="Arial"/>
              </a:rPr>
              <a:t>10,000 sims of the rest of the season (fig. 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34340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 i="0">
                <a:solidFill>
                  <a:srgbClr val="D9E1EF"/>
                </a:solidFill>
                <a:latin typeface="Arial"/>
              </a:rPr>
              <a:t>A month ago the easy take was sell. </a:t>
            </a:r>
            <a:r>
              <a:rPr sz="1500" b="0" i="0">
                <a:solidFill>
                  <a:srgbClr val="D9E1EF"/>
                </a:solidFill>
                <a:latin typeface="Arial"/>
              </a:rPr>
              <a:t>The outfield jam, still </a:t>
            </a:r>
            <a:r>
              <a:rPr sz="1500" b="1" i="0">
                <a:solidFill>
                  <a:srgbClr val="E8615A"/>
                </a:solidFill>
                <a:latin typeface="Arial"/>
              </a:rPr>
              <a:t>masked by Roman Anthony's injury</a:t>
            </a:r>
            <a:r>
              <a:rPr sz="1500" b="0" i="0">
                <a:solidFill>
                  <a:srgbClr val="D9E1EF"/>
                </a:solidFill>
                <a:latin typeface="Arial"/>
              </a:rPr>
              <a:t>, is now a buyer's depth chart: the surplus funds the deadline instead of a teardown.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Buy, but keep it small</a:t>
            </a:r>
          </a:p>
        </p:txBody>
      </p:sp>
      <p:pic>
        <p:nvPicPr>
          <p:cNvPr id="4" name="Picture 3" descr="12_playoff_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" y="1554480"/>
            <a:ext cx="6814108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81965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93608" y="1783080"/>
            <a:ext cx="37490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EAF0F8"/>
                </a:solidFill>
                <a:latin typeface="Arial"/>
              </a:rPr>
              <a:t>Hold Duran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93A0B6"/>
                </a:solidFill>
                <a:latin typeface="Arial"/>
              </a:rPr>
              <a:t>Value at its nadir; his July contact (~.35 xwOBA) is already surging. Re-price in winter.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314553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3108960"/>
            <a:ext cx="37490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EAF0F8"/>
                </a:solidFill>
                <a:latin typeface="Arial"/>
              </a:rPr>
              <a:t>Keep the vets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93A0B6"/>
                </a:solidFill>
                <a:latin typeface="Arial"/>
              </a:rPr>
              <a:t>Gray, Chapman, Contreras are playoff innings now. Sell branch reopens only if the gap blows out by Aug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47141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4434840"/>
            <a:ext cx="37490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50" b="1" i="0">
                <a:solidFill>
                  <a:srgbClr val="EAF0F8"/>
                </a:solidFill>
                <a:latin typeface="Arial"/>
              </a:rPr>
              <a:t>Add small, without disturbing the room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93A0B6"/>
                </a:solidFill>
                <a:latin typeface="Arial"/>
              </a:rPr>
              <a:t>A reliever first, maybe an infield bat, prospects before big-leaguers, empty spots before hot ones. The catcher tandem stays.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5779007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1">
                <a:solidFill>
                  <a:srgbClr val="E8615A"/>
                </a:solidFill>
                <a:latin typeface="Arial"/>
              </a:rPr>
              <a:t>The team is its left fielder: process better than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KEEP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The young, cheap, controllable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3502152" cy="356616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201168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F0F8"/>
                </a:solidFill>
                <a:latin typeface="Arial"/>
              </a:rPr>
              <a:t>Roman Anthony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487168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615A"/>
                </a:solidFill>
                <a:latin typeface="Arial"/>
              </a:rPr>
              <a:t>LF · age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71800"/>
            <a:ext cx="299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58C08D"/>
                </a:solidFill>
                <a:latin typeface="Arial"/>
              </a:rPr>
              <a:t>3.8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822191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3A0B6"/>
                </a:solidFill>
                <a:latin typeface="Arial"/>
              </a:rPr>
              <a:t>projected WAR / 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160520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E1EF"/>
                </a:solidFill>
                <a:latin typeface="Arial"/>
              </a:rPr>
              <a:t>$2.6M · 8yr/$130M 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4526280"/>
            <a:ext cx="299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 i="0">
                <a:solidFill>
                  <a:srgbClr val="93A0B6"/>
                </a:solidFill>
                <a:latin typeface="Arial"/>
              </a:rPr>
              <a:t>Franchise bat. Untouchable. On the IL now, back in 2027.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783080"/>
            <a:ext cx="3502152" cy="356616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01168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F0F8"/>
                </a:solidFill>
                <a:latin typeface="Arial"/>
              </a:rPr>
              <a:t>Ceddanne Rafaela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487168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615A"/>
                </a:solidFill>
                <a:latin typeface="Arial"/>
              </a:rPr>
              <a:t>CF · age 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971800"/>
            <a:ext cx="299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58C08D"/>
                </a:solidFill>
                <a:latin typeface="Arial"/>
              </a:rPr>
              <a:t>3.2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822191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3A0B6"/>
                </a:solidFill>
                <a:latin typeface="Arial"/>
              </a:rPr>
              <a:t>projected WAR / 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4160520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E1EF"/>
                </a:solidFill>
                <a:latin typeface="Arial"/>
              </a:rPr>
              <a:t>$2.0M · 8yr/$50M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4526280"/>
            <a:ext cx="299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 i="0">
                <a:solidFill>
                  <a:srgbClr val="93A0B6"/>
                </a:solidFill>
                <a:latin typeface="Arial"/>
              </a:rPr>
              <a:t>Elite center-field glove + SS/utility flex. Premium position, controlled cheap.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1783080"/>
            <a:ext cx="3502152" cy="356616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AF0F8"/>
                </a:solidFill>
                <a:latin typeface="Arial"/>
              </a:rPr>
              <a:t>Wilyer Abreu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87168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615A"/>
                </a:solidFill>
                <a:latin typeface="Arial"/>
              </a:rPr>
              <a:t>RF · age 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71800"/>
            <a:ext cx="299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58C08D"/>
                </a:solidFill>
                <a:latin typeface="Arial"/>
              </a:rPr>
              <a:t>2.8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822191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3A0B6"/>
                </a:solidFill>
                <a:latin typeface="Arial"/>
              </a:rPr>
              <a:t>projected WAR / 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160520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E1EF"/>
                </a:solidFill>
                <a:latin typeface="Arial"/>
              </a:rPr>
              <a:t>$0.8M · pre-arb → 2029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526280"/>
            <a:ext cx="299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 i="0">
                <a:solidFill>
                  <a:srgbClr val="93A0B6"/>
                </a:solidFill>
                <a:latin typeface="Arial"/>
              </a:rPr>
              <a:t>Best surplus on the roster: plus RF glove, above-average LH bat.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5321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EAF0F8"/>
                </a:solidFill>
                <a:latin typeface="Arial"/>
              </a:rPr>
              <a:t>Three spots, locked. Everything else flexes around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The two hard cases: a redundant bat and an underwater contract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5358384" cy="361188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2029968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EAF0F8"/>
                </a:solidFill>
                <a:latin typeface="Arial"/>
              </a:rPr>
              <a:t>Jarren Duran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42032"/>
            <a:ext cx="4809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615A"/>
                </a:solidFill>
                <a:latin typeface="Arial"/>
              </a:rPr>
              <a:t>LF/CF · 29 · $7.7M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" y="3108960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4489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D9E1EF"/>
                </a:solidFill>
                <a:latin typeface="Arial"/>
              </a:rPr>
              <a:t>Movable piece. </a:t>
            </a:r>
            <a:r>
              <a:rPr sz="1300" b="0" i="0">
                <a:solidFill>
                  <a:srgbClr val="93A0B6"/>
                </a:solidFill>
                <a:latin typeface="Arial"/>
              </a:rPr>
              <a:t>Controllable through 2028; above-average at true talent (~110 wRC+). Redundant behind the core and the priciest of the young group.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4251959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489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D9E1EF"/>
                </a:solidFill>
                <a:latin typeface="Arial"/>
              </a:rPr>
              <a:t>Hold at the deadline. </a:t>
            </a:r>
            <a:r>
              <a:rPr sz="1300" b="0" i="0">
                <a:solidFill>
                  <a:srgbClr val="93A0B6"/>
                </a:solidFill>
                <a:latin typeface="Arial"/>
              </a:rPr>
              <a:t>Value at its nadir; xstats say the market under-prices him. Re-price in winter, after the rebound shows (or doesn't).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783080"/>
            <a:ext cx="5358384" cy="361188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029968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EAF0F8"/>
                </a:solidFill>
                <a:latin typeface="Arial"/>
              </a:rPr>
              <a:t>Masataka Yoshida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542032"/>
            <a:ext cx="4809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93A0B6"/>
                </a:solidFill>
                <a:latin typeface="Arial"/>
              </a:rPr>
              <a:t>DH · 32 · $18.6M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9672" y="3108960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93A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3063240"/>
            <a:ext cx="4489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D9E1EF"/>
                </a:solidFill>
                <a:latin typeface="Arial"/>
              </a:rPr>
              <a:t>The contract, not the bat. </a:t>
            </a:r>
            <a:r>
              <a:rPr sz="1300" b="0" i="0">
                <a:solidFill>
                  <a:srgbClr val="93A0B6"/>
                </a:solidFill>
                <a:latin typeface="Arial"/>
              </a:rPr>
              <a:t>He's hitting: above-average wRC+, .340-class OBP, one of MLB's lowest strikeout rates. $18.6M for a DH with below-average pop is still underwater as an asset.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4251959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93A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57416" y="4206240"/>
            <a:ext cx="44897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D9E1EF"/>
                </a:solidFill>
                <a:latin typeface="Arial"/>
              </a:rPr>
              <a:t>Keep him in the lineup. </a:t>
            </a:r>
            <a:r>
              <a:rPr sz="1300" b="0" i="0">
                <a:solidFill>
                  <a:srgbClr val="93A0B6"/>
                </a:solidFill>
                <a:latin typeface="Arial"/>
              </a:rPr>
              <a:t>Gonzalez covers the tougher lefties. Absorb the deal, let it expire.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DON'T SELL 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Duran's 2026 is unlucky</a:t>
            </a:r>
          </a:p>
        </p:txBody>
      </p:sp>
      <p:pic>
        <p:nvPicPr>
          <p:cNvPr id="4" name="Picture 3" descr="01_babip_vs_lea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309360" cy="39433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40880" y="1700784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33488" y="1664208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2024 was more what we should expect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BABIP .344 vs xBABIP .333; xwOBA .340 legit. Credit his speed's usual edge over xstats and the true luck is only +5 to +14 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761488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33488" y="2724912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2026 is the real anomaly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wOBA .263 BELOW its .293 xwOBA, 34 to 43 pts under his own norm; BABIP .238 vs .309 expected. Erosion real, luck worse.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3822191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3B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3785615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legs are fine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Career gap +19 home / +19 road: identical, the skill travels. Speed, baserunning and fielding all still plus. No injury.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488289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484632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True talent ≈ his 2025 (~110 wRC+)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An above-average regular. The 2024 high and 2026 low are tails around that plateau.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593445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1">
                <a:solidFill>
                  <a:srgbClr val="E8615A"/>
                </a:solidFill>
                <a:latin typeface="Arial"/>
              </a:rPr>
              <a:t>Selling now cashes the slump. Value hinges on the rebound.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REBOUND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10,000 simulations: the rebound is likely</a:t>
            </a:r>
          </a:p>
        </p:txBody>
      </p:sp>
      <p:pic>
        <p:nvPicPr>
          <p:cNvPr id="4" name="Picture 3" descr="09_rebound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7589520" cy="32749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64592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3A0B6"/>
                </a:solidFill>
                <a:latin typeface="Arial"/>
              </a:rPr>
              <a:t>P(REST-OF-SEASON wRC+ ≥ 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965960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58C08D"/>
                </a:solidFill>
                <a:latin typeface="Arial"/>
              </a:rPr>
              <a:t>69%</a:t>
            </a:r>
            <a:r>
              <a:rPr sz="1250" b="0" i="0">
                <a:solidFill>
                  <a:srgbClr val="93A0B6"/>
                </a:solidFill>
                <a:latin typeface="Arial"/>
              </a:rPr>
              <a:t>  healthy prior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615A"/>
                </a:solidFill>
                <a:latin typeface="Arial"/>
              </a:rPr>
              <a:t>47%</a:t>
            </a:r>
            <a:r>
              <a:rPr sz="1250" b="0" i="0">
                <a:solidFill>
                  <a:srgbClr val="93A0B6"/>
                </a:solidFill>
                <a:latin typeface="Arial"/>
              </a:rPr>
              <a:t>  erosion-blended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352044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93A0B6"/>
                </a:solidFill>
                <a:latin typeface="Arial"/>
              </a:rPr>
              <a:t>EXPECTED OFFSEASON TRADE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8404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 i="0">
                <a:solidFill>
                  <a:srgbClr val="EAF0F8"/>
                </a:solidFill>
                <a:latin typeface="Arial"/>
              </a:rPr>
              <a:t>$22M</a:t>
            </a:r>
            <a:r>
              <a:rPr sz="1300" b="0" i="0">
                <a:solidFill>
                  <a:srgbClr val="93A0B6"/>
                </a:solidFill>
                <a:latin typeface="Arial"/>
              </a:rPr>
              <a:t> vs </a:t>
            </a:r>
            <a:r>
              <a:rPr sz="2400" b="1" i="0">
                <a:solidFill>
                  <a:srgbClr val="EAF0F8"/>
                </a:solidFill>
                <a:latin typeface="Arial"/>
              </a:rPr>
              <a:t>$18M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0">
                <a:solidFill>
                  <a:srgbClr val="93A0B6"/>
                </a:solidFill>
                <a:latin typeface="Arial"/>
              </a:rPr>
              <a:t>either way, well above the ~$10M a July sale fetches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235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E8615A"/>
                </a:solidFill>
                <a:latin typeface="Arial"/>
              </a:rPr>
              <a:t>The honest line: </a:t>
            </a:r>
            <a:r>
              <a:rPr sz="1350" b="0" i="0">
                <a:solidFill>
                  <a:srgbClr val="D9E1EF"/>
                </a:solidFill>
                <a:latin typeface="Arial"/>
              </a:rPr>
              <a:t>the 22-point probability gap is the price of the worse chase / whiff / hard-hit rates. Hold-through-2026 survives the erosion stress test, but with less confidence in the rebound narrative itself.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TIEBREAKER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Swing Stats</a:t>
            </a:r>
          </a:p>
        </p:txBody>
      </p:sp>
      <p:pic>
        <p:nvPicPr>
          <p:cNvPr id="4" name="Picture 3" descr="10_erosion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621" y="1554480"/>
            <a:ext cx="8993709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4617720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75488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58C08D"/>
                </a:solidFill>
                <a:latin typeface="Arial"/>
              </a:rPr>
              <a:t>74.5 mph</a:t>
            </a:r>
            <a:r>
              <a:rPr sz="1050" b="0" i="0">
                <a:solidFill>
                  <a:srgbClr val="93A0B6"/>
                </a:solidFill>
                <a:latin typeface="Arial"/>
              </a:rPr>
              <a:t>  avg bat speed 2026, up from 72.7 in '24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285232"/>
            <a:ext cx="3044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400"/>
              </a:spcAft>
            </a:pPr>
            <a:r>
              <a:rPr sz="1080" b="0" i="0">
                <a:solidFill>
                  <a:srgbClr val="D9E1EF"/>
                </a:solidFill>
                <a:latin typeface="Arial"/>
              </a:rPr>
              <a:t>Duran is swinging harder, longer and steeper. That's pressing, not fading.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4617720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475488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E8615A"/>
                </a:solidFill>
                <a:latin typeface="Arial"/>
              </a:rPr>
              <a:t>29% whiff vs 95+</a:t>
            </a:r>
            <a:r>
              <a:rPr sz="1050" b="0" i="0">
                <a:solidFill>
                  <a:srgbClr val="93A0B6"/>
                </a:solidFill>
                <a:latin typeface="Arial"/>
              </a:rPr>
              <a:t>  up from 16% in '24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5285232"/>
            <a:ext cx="3044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400"/>
              </a:spcAft>
            </a:pPr>
            <a:r>
              <a:rPr sz="1080" b="0" i="0">
                <a:solidFill>
                  <a:srgbClr val="D9E1EF"/>
                </a:solidFill>
                <a:latin typeface="Arial"/>
              </a:rPr>
              <a:t>Whiffs on a rising bat speed = selling out. The chase leak is velo/offspeed; breaking-ball chase actually improved.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4617720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3" y="475488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EAF0F8"/>
                </a:solidFill>
                <a:latin typeface="Arial"/>
              </a:rPr>
              <a:t>60 / 40</a:t>
            </a:r>
            <a:r>
              <a:rPr sz="1050" b="0" i="0">
                <a:solidFill>
                  <a:srgbClr val="93A0B6"/>
                </a:solidFill>
                <a:latin typeface="Arial"/>
              </a:rPr>
              <a:t>  re-weighted scenario odds → 60% rebound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3" y="5285232"/>
            <a:ext cx="3044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400"/>
              </a:spcAft>
            </a:pPr>
            <a:r>
              <a:rPr sz="1080" b="0" i="0">
                <a:solidFill>
                  <a:srgbClr val="D9E1EF"/>
                </a:solidFill>
                <a:latin typeface="Arial"/>
              </a:rPr>
              <a:t>Approach is fixable (see his own 2022→23 chase overhaul); the tools a buyer prices are intact.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Aging doesn't explain the drop</a:t>
            </a:r>
          </a:p>
        </p:txBody>
      </p:sp>
      <p:pic>
        <p:nvPicPr>
          <p:cNvPr id="4" name="Picture 3" descr="04_age_curve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79" y="150876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8064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D9E1EF"/>
                </a:solidFill>
                <a:latin typeface="Arial"/>
              </a:rPr>
              <a:t>2024 → 2026 wRC+ fell ~70 points; a normal age 27→29 curve predicts only ~7. </a:t>
            </a:r>
            <a:r>
              <a:rPr sz="1400" b="1" i="0">
                <a:solidFill>
                  <a:srgbClr val="EAF0F8"/>
                </a:solidFill>
                <a:latin typeface="Arial"/>
              </a:rPr>
              <a:t>The gap is mean-reversion from an inflated peak plus a 2026 bad-luck tail, not a skill cliff.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IF THEY BUY, WHERE?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The roster's biggest hole is the Duran slump itself</a:t>
            </a:r>
          </a:p>
        </p:txBody>
      </p:sp>
      <p:pic>
        <p:nvPicPr>
          <p:cNvPr id="4" name="Picture 3" descr="13_positional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" y="1554480"/>
            <a:ext cx="7066483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77393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93608" y="173736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LF −31: internal fix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Duran's regression, now sheltered by a Jahmai Jones platoon, plus Anthony's eventual return. Free.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889504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852928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SS −18: the true target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One controllable infield stabilizer is the only lineup trade that fits the odds.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005072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3B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3968496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Bullpen: quiet weakness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ERA top-10 but FIP and reliever WAR rank far worse, it will regress without help.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5120640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5084064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Contreras twist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The winter's reported sell candidate is now their best hitter. Moving him would be met with outrage.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SUPPORTING 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Career years everywhere. That's a tailwind, not a foundation</a:t>
            </a:r>
          </a:p>
        </p:txBody>
      </p:sp>
      <p:pic>
        <p:nvPicPr>
          <p:cNvPr id="4" name="Picture 3" descr="17_aaaa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7315200" cy="35934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77393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93608" y="173736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15 quad-A contributors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Waiver claims, up-down arms and career minor-leaguers holding real roles, +3.4 WAR combined.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889504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3B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852928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4 career bests, 4 rookies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Most of the returners are beating every season they've ever had; the rookies have no baseline at 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005072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3968496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process check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Results sit within a few points of expected, they're earning it. The risk is track record: careers, not heaters, predict August.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5120640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5084064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So buy substance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Replace borrowed production before August returns it: a real reliever over a career-year one, a real bat over a waiver claim on a heater.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CHEMISTRY VETO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Don't Mess Up The Pitching Staff</a:t>
            </a:r>
          </a:p>
        </p:txBody>
      </p:sp>
      <p:pic>
        <p:nvPicPr>
          <p:cNvPr id="4" name="Picture 3" descr="14_batte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554480"/>
            <a:ext cx="7010399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77393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93608" y="173736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staff works with both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3.42 RA9 with Wong, 4.20 with Narváez, the run-prevention core of the season.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889504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852928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Every arm has a guy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Raw pairings look dramatic (fig. 14), but small samples shrink hard (fig. 15). What survives: settled, deliberate assignments.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005072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3B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3968496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pen is paired too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Leverage relievers ride with a settled catcher, these innings aren't assigned at random.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5120640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5084064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So: no catcher trade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The adjusted model (pitcher/opponent/park controls) finds no significant catcher effect: -31 pts, 95% CI [-84, +21]. Nothing here for a trade to fix.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Two custom models behind the calls</a:t>
            </a:r>
          </a:p>
        </p:txBody>
      </p:sp>
      <p:pic>
        <p:nvPicPr>
          <p:cNvPr id="4" name="Picture 3" descr="16_speed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44" y="1554480"/>
            <a:ext cx="728003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77393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93608" y="173736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Speed-aware xBABIP / xwOBAcon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Gradient boosting on 77,928 league batted balls (EV, LA, spray ± sprint speed), 5-fold CV grouped by batter so every residual is out-of-sample.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889504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852928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blind spot, measured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Speed-blind xstats under-predict the fastest decile by +20 pts of BABIP. Duran's speed term: +23 pts of wOBA on contact, inside the +5–14 band derived independently.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005072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3B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3968496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Adjusted battery model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WOWY + fixed-effects OLS (pitcher/opponent/park), cluster-bootstrap CIs, empirical-Bayes shrinkage (fig. 15): raw splits are mostly noise; no significant catcher effect.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5120640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5084064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Why it's credible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Out-of-sample everywhere, CIs on every headline, and frozen pre-registered predictions graded in October, flattering or 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Three trades that fit, and one walk-away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358384" cy="1938528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56232"/>
            <a:ext cx="4855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8C08D"/>
                </a:solidFill>
                <a:latin typeface="Arial"/>
              </a:rPr>
              <a:t>1 · THE PEN FIX · DO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855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EAF0F8"/>
                </a:solidFill>
                <a:latin typeface="Arial"/>
              </a:rPr>
              <a:t>RHP Luke Weaver (NYM)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8554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For a 45 FV + 40 FV, prospects only, nobody loses a job or an inning. Elite relief year, signed through '27. The highest-probability marginal win on the 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91640"/>
            <a:ext cx="5358384" cy="1938528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56232"/>
            <a:ext cx="4855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AF0F8"/>
                </a:solidFill>
                <a:latin typeface="Arial"/>
              </a:rPr>
              <a:t>2 · THE STABILIZER · IF THE PRICE 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2148840"/>
            <a:ext cx="4855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EAF0F8"/>
                </a:solidFill>
                <a:latin typeface="Arial"/>
              </a:rPr>
              <a:t>2B Luis Arraez (SFG)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560320"/>
            <a:ext cx="48554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For Brayan Bello, the first deal that touches the active roster. Zero prospect cost; Arraez fills a patchwork platoon spot, not a hot regular's.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886200"/>
            <a:ext cx="5358384" cy="1938528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50791"/>
            <a:ext cx="4855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8615A"/>
                </a:solidFill>
                <a:latin typeface="Arial"/>
              </a:rPr>
              <a:t>3 · THE BIG SWING · PROBABLY WAIT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4855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EAF0F8"/>
                </a:solidFill>
                <a:latin typeface="Arial"/>
              </a:rPr>
              <a:t>SS Zach Neto (LAA)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48554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For Tolle + Early + a 45 FV: two arms out of a winning rotation midseason. Right for the franchise window, and still there in the winter. Controlled through 2029.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3886200"/>
            <a:ext cx="5358384" cy="1938528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4050791"/>
            <a:ext cx="4855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3B14E"/>
                </a:solidFill>
                <a:latin typeface="Arial"/>
              </a:rPr>
              <a:t>✗ · THE WALK-AWAY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4343400"/>
            <a:ext cx="4855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EAF0F8"/>
                </a:solidFill>
                <a:latin typeface="Arial"/>
              </a:rPr>
              <a:t>C Shea Langeliers (ATH)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754880"/>
            <a:ext cx="48554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The value math worked; the battery map is the veto. No August bat is worth resetting eight pitcher-catcher pairings on a staff carrying the season.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8978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D9E1EF"/>
                </a:solidFill>
                <a:latin typeface="Arial"/>
              </a:rPr>
              <a:t>A menu, not a plan, Boston can afford about two. </a:t>
            </a:r>
            <a:r>
              <a:rPr sz="1250" b="0" i="0">
                <a:solidFill>
                  <a:srgbClr val="93A0B6"/>
                </a:solidFill>
                <a:latin typeface="Arial"/>
              </a:rPr>
              <a:t>Full value math and verified contracts in the mock-trades memo. Hypotheticals, not reporting.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REAL TRADE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They made one: Mead for Early</a:t>
            </a:r>
          </a:p>
        </p:txBody>
      </p:sp>
      <p:pic>
        <p:nvPicPr>
          <p:cNvPr id="4" name="Picture 3" descr="18_mead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44" y="1554480"/>
            <a:ext cx="728003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773936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93608" y="1737360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deal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Curtis Mead (25) from Washington for Connelly Early: one surplus arm for a 134 wRC+ infield bat with years of club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889504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852928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The Fenway fit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23% pull-air rate, 82nd percentile, with a .846 wOBA on pulled air balls. RHB pull-air plays to the Monster.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005072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E3B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3968496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Earned, mostly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.376 wOBA against a .359 xwOBA, so the breakout has contact quality behind it. The flag: 488 PA of .617 OPS before this year.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5120640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5084064"/>
            <a:ext cx="3749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350" b="1" i="0">
                <a:solidFill>
                  <a:srgbClr val="EAF0F8"/>
                </a:solidFill>
                <a:latin typeface="Arial"/>
              </a:rPr>
              <a:t>Menu grade</a:t>
            </a:r>
          </a:p>
          <a:p>
            <a:pPr algn="l">
              <a:lnSpc>
                <a:spcPct val="107000"/>
              </a:lnSpc>
              <a:spcAft>
                <a:spcPts val="200"/>
              </a:spcAft>
            </a:pPr>
            <a:r>
              <a:rPr sz="1160" b="0" i="0">
                <a:solidFill>
                  <a:srgbClr val="93A0B6"/>
                </a:solidFill>
                <a:latin typeface="Arial"/>
              </a:rPr>
              <a:t>The big-swing shape at half the price, and the infield hole filled. The pen fix is still open, 8 days left.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WINTER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Spend the pitching surplus on offense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 i="0">
                <a:solidFill>
                  <a:srgbClr val="D9E1EF"/>
                </a:solidFill>
                <a:latin typeface="Arial"/>
              </a:rPr>
              <a:t>If winter comes and Duran's rebound has shown up, this is what a deal should return. With a top-6 rotation (3.65 ERA) carrying the club, trading bats for arms is backwards, convert the outfield surplus into what's thin: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68880"/>
            <a:ext cx="3502152" cy="251460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272491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58C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B1220"/>
                </a:solidFill>
                <a:latin typeface="Courier New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310128"/>
            <a:ext cx="29992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AF0F8"/>
                </a:solidFill>
                <a:latin typeface="Arial"/>
              </a:rPr>
              <a:t>Controllable bats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767328"/>
            <a:ext cx="29992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80" b="0" i="0">
                <a:solidFill>
                  <a:srgbClr val="93A0B6"/>
                </a:solidFill>
                <a:latin typeface="Arial"/>
              </a:rPr>
              <a:t>Young, cost-controlled position players to fix an inconsistent lineup and lengthen it around the 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2468880"/>
            <a:ext cx="3502152" cy="251460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26864" y="272491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B1220"/>
                </a:solidFill>
                <a:latin typeface="Courier New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3310128"/>
            <a:ext cx="29992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AF0F8"/>
                </a:solidFill>
                <a:latin typeface="Arial"/>
              </a:rPr>
              <a:t>Best talent / upside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767328"/>
            <a:ext cx="29992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80" b="0" i="0">
                <a:solidFill>
                  <a:srgbClr val="93A0B6"/>
                </a:solidFill>
                <a:latin typeface="Arial"/>
              </a:rPr>
              <a:t>In a retool you take the best player, not the positional patch, prospects and MLB-ready youth over rentals.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468880"/>
            <a:ext cx="3502152" cy="2514600"/>
          </a:xfrm>
          <a:prstGeom prst="roundRect">
            <a:avLst>
              <a:gd name="adj" fmla="val 6000"/>
            </a:avLst>
          </a:prstGeom>
          <a:solidFill>
            <a:srgbClr val="121E33"/>
          </a:solidFill>
          <a:ln w="12700">
            <a:solidFill>
              <a:srgbClr val="26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272491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E3B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0B1220"/>
                </a:solidFill>
                <a:latin typeface="Courier New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10128"/>
            <a:ext cx="29992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AF0F8"/>
                </a:solidFill>
                <a:latin typeface="Arial"/>
              </a:rPr>
              <a:t>Salary relief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767328"/>
            <a:ext cx="29992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80" b="0" i="0">
                <a:solidFill>
                  <a:srgbClr val="93A0B6"/>
                </a:solidFill>
                <a:latin typeface="Arial"/>
              </a:rPr>
              <a:t>Attach Yoshida money where possible; free payroll for the 2027 window.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2578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1">
                <a:solidFill>
                  <a:srgbClr val="EAF0F8"/>
                </a:solidFill>
                <a:latin typeface="Arial"/>
              </a:rPr>
              <a:t>Keep the arms. Cash the outfield. </a:t>
            </a:r>
            <a:r>
              <a:rPr sz="1400" b="0" i="1">
                <a:solidFill>
                  <a:srgbClr val="93A0B6"/>
                </a:solidFill>
                <a:latin typeface="Arial"/>
              </a:rPr>
              <a:t>Build the 2027 lineup, don't rent the 2026 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Who pays: contenders with a hole in the outfield</a:t>
            </a:r>
          </a:p>
        </p:txBody>
      </p:sp>
      <p:pic>
        <p:nvPicPr>
          <p:cNvPr id="4" name="Picture 3" descr="08_trade_fit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" y="1463040"/>
            <a:ext cx="6715125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83879" y="16916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AF0F8"/>
                </a:solidFill>
                <a:latin typeface="Arial"/>
              </a:rPr>
              <a:t>Best-fit buyers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2221991"/>
            <a:ext cx="128016" cy="128016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9911" y="219456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Arial"/>
              </a:rPr>
              <a:t>Phillies  </a:t>
            </a:r>
            <a:r>
              <a:rPr sz="1200" b="0" i="0">
                <a:solidFill>
                  <a:srgbClr val="93A0B6"/>
                </a:solidFill>
                <a:latin typeface="Arial"/>
              </a:rPr>
              <a:t>.557, 84 OF wRC+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2788920"/>
            <a:ext cx="128016" cy="128016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1" y="276148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Arial"/>
              </a:rPr>
              <a:t>Rays  </a:t>
            </a:r>
            <a:r>
              <a:rPr sz="1200" b="0" i="0">
                <a:solidFill>
                  <a:srgbClr val="93A0B6"/>
                </a:solidFill>
                <a:latin typeface="Arial"/>
              </a:rPr>
              <a:t>.596, 88 OF wRC+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3355847"/>
            <a:ext cx="128016" cy="128016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1" y="3328415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Arial"/>
              </a:rPr>
              <a:t>Cardinals  </a:t>
            </a:r>
            <a:r>
              <a:rPr sz="1200" b="0" i="0">
                <a:solidFill>
                  <a:srgbClr val="93A0B6"/>
                </a:solidFill>
                <a:latin typeface="Arial"/>
              </a:rPr>
              <a:t>.526, OF need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922776"/>
            <a:ext cx="128016" cy="128016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1" y="3895344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Arial"/>
              </a:rPr>
              <a:t>Astros  </a:t>
            </a:r>
            <a:r>
              <a:rPr sz="1200" b="0" i="0">
                <a:solidFill>
                  <a:srgbClr val="93A0B6"/>
                </a:solidFill>
                <a:latin typeface="Arial"/>
              </a:rPr>
              <a:t>fringe, weakest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70916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D9E1EF"/>
                </a:solidFill>
                <a:latin typeface="Arial"/>
              </a:rPr>
              <a:t>Trade a redundant bat to a team that needs one, and take back the </a:t>
            </a:r>
            <a:r>
              <a:rPr sz="1250" b="1" i="0">
                <a:solidFill>
                  <a:srgbClr val="58C08D"/>
                </a:solidFill>
                <a:latin typeface="Arial"/>
              </a:rPr>
              <a:t>hitting/youth</a:t>
            </a:r>
            <a:r>
              <a:rPr sz="1250" b="0" i="0">
                <a:solidFill>
                  <a:srgbClr val="D9E1EF"/>
                </a:solidFill>
                <a:latin typeface="Arial"/>
              </a:rPr>
              <a:t> Boston is short 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615A"/>
                </a:solidFill>
                <a:latin typeface="Courier New"/>
              </a:rPr>
              <a:t>// THE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AF0F8"/>
                </a:solidFill>
                <a:latin typeface="Arial"/>
              </a:rPr>
              <a:t>Buy now, decide on Duran in the winter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013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0B1220"/>
                </a:solidFill>
                <a:latin typeface="Courier New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78308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 i="0">
                <a:solidFill>
                  <a:srgbClr val="EAF0F8"/>
                </a:solidFill>
                <a:latin typeface="Arial"/>
              </a:rPr>
              <a:t>At the deadline: buy targeted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0" i="0">
                <a:solidFill>
                  <a:srgbClr val="93A0B6"/>
                </a:solidFill>
                <a:latin typeface="Arial"/>
              </a:rPr>
              <a:t>A controllable infield bat and a reliever, funded from the pitching surplus. Keep the vets, they're playoff innings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0B1220"/>
                </a:solidFill>
                <a:latin typeface="Courier New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53512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 i="0">
                <a:solidFill>
                  <a:srgbClr val="EAF0F8"/>
                </a:solidFill>
                <a:latin typeface="Arial"/>
              </a:rPr>
              <a:t>Hold Duran through August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0" i="0">
                <a:solidFill>
                  <a:srgbClr val="93A0B6"/>
                </a:solidFill>
                <a:latin typeface="Arial"/>
              </a:rPr>
              <a:t>His value is at its nadir and his July contact quality (~.35 xwOBA) is already surging. Selling now cashes the slump.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42231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0B1220"/>
                </a:solidFill>
                <a:latin typeface="Courier New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123944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 i="0">
                <a:solidFill>
                  <a:srgbClr val="EAF0F8"/>
                </a:solidFill>
                <a:latin typeface="Arial"/>
              </a:rPr>
              <a:t>Winter: re-price, then choose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0" i="0">
                <a:solidFill>
                  <a:srgbClr val="93A0B6"/>
                </a:solidFill>
                <a:latin typeface="Arial"/>
              </a:rPr>
              <a:t>Anthony healthy, jam returns. Rebound confirmed → extend or trade at full price. Erosion persists → sell at market. Either way, the 2027 OF is Anthony / Rafaela / Abreu.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783080"/>
            <a:ext cx="3794760" cy="3337560"/>
          </a:xfrm>
          <a:prstGeom prst="roundRect">
            <a:avLst>
              <a:gd name="adj" fmla="val 6000"/>
            </a:avLst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011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9D2E3"/>
                </a:solidFill>
                <a:latin typeface="Arial"/>
              </a:rPr>
              <a:t>THE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487168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F0B8BC"/>
                </a:solidFill>
                <a:latin typeface="Arial"/>
              </a:rPr>
              <a:t>Sell now (nadir)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i="0">
                <a:solidFill>
                  <a:srgbClr val="F4F7FC"/>
                </a:solidFill>
                <a:latin typeface="Arial"/>
              </a:rPr>
              <a:t>~$10–15M · a 45-FV bat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5204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A9E5B5"/>
                </a:solidFill>
                <a:latin typeface="Arial"/>
              </a:rPr>
              <a:t>Sell after rebound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i="0">
                <a:solidFill>
                  <a:srgbClr val="F4F7FC"/>
                </a:solidFill>
                <a:latin typeface="Arial"/>
              </a:rPr>
              <a:t>~$28M · a 50-FV, top-100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i="0">
                <a:solidFill>
                  <a:srgbClr val="F4F7FC"/>
                </a:solidFill>
                <a:latin typeface="Arial"/>
              </a:rPr>
              <a:t>controllable talent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6177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1">
                <a:solidFill>
                  <a:srgbClr val="C9D2E3"/>
                </a:solidFill>
                <a:latin typeface="Arial"/>
              </a:rPr>
              <a:t>One grade of return = the reason to wait.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E8615A"/>
                </a:solidFill>
                <a:latin typeface="Courier New"/>
              </a:rPr>
              <a:t>BOS // OUTFIELD STRATEGY</a:t>
            </a:r>
            <a:r>
              <a:rPr sz="800" b="0" i="0">
                <a:solidFill>
                  <a:srgbClr val="5E6B84"/>
                </a:solidFill>
                <a:latin typeface="Courier New"/>
              </a:rPr>
              <a:t>   STATCAST / FANGRAPHS / MLB STATS API / SPOTRAC · JULY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400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2179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9D2E3"/>
                </a:solidFill>
                <a:latin typeface="Arial"/>
              </a:rPr>
              <a:t>BOTTOM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37943"/>
            <a:ext cx="164592" cy="164592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F4F7FC"/>
                </a:solidFill>
                <a:latin typeface="Arial"/>
              </a:rPr>
              <a:t>Play the hand.  </a:t>
            </a:r>
            <a:r>
              <a:rPr sz="1500" b="0" i="0">
                <a:solidFill>
                  <a:srgbClr val="CDD4E2"/>
                </a:solidFill>
                <a:latin typeface="Arial"/>
              </a:rPr>
              <a:t>77% playoff odds, +41 run differential, a wild card in hand, buy small (a reliever first), keep the vets, and let the record keep catching up to the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72384"/>
            <a:ext cx="164592" cy="164592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F4F7FC"/>
                </a:solidFill>
                <a:latin typeface="Arial"/>
              </a:rPr>
              <a:t>Cash the surplus, not the slump.  </a:t>
            </a:r>
            <a:r>
              <a:rPr sz="1500" b="0" i="0">
                <a:solidFill>
                  <a:srgbClr val="CDD4E2"/>
                </a:solidFill>
                <a:latin typeface="Arial"/>
              </a:rPr>
              <a:t>Hold Duran through the deadline; re-price him in winter, extend or trade the 2025 player, never the unlucky 2026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06824"/>
            <a:ext cx="164592" cy="164592"/>
          </a:xfrm>
          <a:prstGeom prst="roundRect">
            <a:avLst>
              <a:gd name="adj" fmla="val 18000"/>
            </a:avLst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F4F7FC"/>
                </a:solidFill>
                <a:latin typeface="Arial"/>
              </a:rPr>
              <a:t>Stop fighting the Yoshida deal.  </a:t>
            </a:r>
            <a:r>
              <a:rPr sz="1500" b="0" i="0">
                <a:solidFill>
                  <a:srgbClr val="CDD4E2"/>
                </a:solidFill>
                <a:latin typeface="Arial"/>
              </a:rPr>
              <a:t>The bat is back to average or better; absorb the contract and let it expire.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62356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9AA6BC"/>
                </a:solidFill>
                <a:latin typeface="Arial"/>
              </a:rPr>
              <a:t>Confidence: </a:t>
            </a:r>
            <a:r>
              <a:rPr sz="1250" b="0" i="1">
                <a:solidFill>
                  <a:srgbClr val="9AA6BC"/>
                </a:solidFill>
                <a:latin typeface="Arial"/>
              </a:rPr>
              <a:t>high that 2024 shouldn't be the anchor and pitching is a strength; the open question is how much of 2026's skill dip (chase, whiff, hard-hit are all worse) persists, the one thing to watch before selling.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