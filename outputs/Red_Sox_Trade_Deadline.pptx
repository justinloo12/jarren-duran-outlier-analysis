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8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566928"/>
            <a:ext cx="310896" cy="310896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0120" y="54864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C9D2E3"/>
                </a:solidFill>
                <a:latin typeface="Arial"/>
              </a:rPr>
              <a:t>BOSTON RED SOX  ·  TRADE DEADLINE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965960"/>
            <a:ext cx="110642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4600" b="1" i="0">
                <a:solidFill>
                  <a:srgbClr val="F4F7FC"/>
                </a:solidFill>
                <a:latin typeface="Arial"/>
              </a:rPr>
              <a:t>Red Sox Trade Deadline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4600" b="1" i="0">
                <a:solidFill>
                  <a:srgbClr val="E8615A"/>
                </a:solidFill>
                <a:latin typeface="Arial"/>
              </a:rPr>
              <a:t>Thoughts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977639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700" b="0" i="0">
                <a:solidFill>
                  <a:srgbClr val="D3D9E6"/>
                </a:solidFill>
                <a:latin typeface="Arial"/>
              </a:rPr>
              <a:t>After an incredible push, the Sox are in a position to be buyers before this trade deadline. A breakdown of our new acquisition, Curtis Mead, and what else the Sox need to do for a deep playoff run. 8 days to August 3.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03504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 i="1">
                <a:solidFill>
                  <a:srgbClr val="8C97AC"/>
                </a:solidFill>
                <a:latin typeface="Arial"/>
              </a:rPr>
              <a:t>A data-driven roster case study · July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THE 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Red Sox Are Back From The Dead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874519"/>
            <a:ext cx="3502152" cy="214884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084831"/>
            <a:ext cx="304495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400" b="1" i="0">
                <a:solidFill>
                  <a:srgbClr val="E8615A"/>
                </a:solidFill>
                <a:latin typeface="Arial"/>
              </a:rPr>
              <a:t>53-50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7" y="2999232"/>
            <a:ext cx="29992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EAF0F8"/>
                </a:solidFill>
                <a:latin typeface="Arial"/>
              </a:rPr>
              <a:t>record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7" y="3346704"/>
            <a:ext cx="29992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93A0B6"/>
                </a:solidFill>
                <a:latin typeface="Arial"/>
              </a:rPr>
              <a:t>holding the final wild card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52544" y="1874519"/>
            <a:ext cx="3502152" cy="214884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08576" y="2084831"/>
            <a:ext cx="304495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400" b="1" i="0">
                <a:solidFill>
                  <a:srgbClr val="EAF0F8"/>
                </a:solidFill>
                <a:latin typeface="Arial"/>
              </a:rPr>
              <a:t>+41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26864" y="2999232"/>
            <a:ext cx="29992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EAF0F8"/>
                </a:solidFill>
                <a:latin typeface="Arial"/>
              </a:rPr>
              <a:t>run differential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26864" y="3346704"/>
            <a:ext cx="29992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93A0B6"/>
                </a:solidFill>
                <a:latin typeface="Arial"/>
              </a:rPr>
              <a:t>outplaying their .515 record all season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59" y="1874519"/>
            <a:ext cx="3502152" cy="214884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94191" y="2084831"/>
            <a:ext cx="304495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400" b="1" i="0">
                <a:solidFill>
                  <a:srgbClr val="EAF0F8"/>
                </a:solidFill>
                <a:latin typeface="Arial"/>
              </a:rPr>
              <a:t>78%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2999232"/>
            <a:ext cx="29992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EAF0F8"/>
                </a:solidFill>
                <a:latin typeface="Arial"/>
              </a:rPr>
              <a:t>playoff odds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3346704"/>
            <a:ext cx="29992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93A0B6"/>
                </a:solidFill>
                <a:latin typeface="Arial"/>
              </a:rPr>
              <a:t>10,000 sims of the rest of the season (fig. 12)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4343400"/>
            <a:ext cx="110642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500" b="1" i="0">
                <a:solidFill>
                  <a:srgbClr val="D9E1EF"/>
                </a:solidFill>
                <a:latin typeface="Arial"/>
              </a:rPr>
              <a:t>A month ago the easy take was sell. </a:t>
            </a:r>
            <a:r>
              <a:rPr sz="1500" b="0" i="0">
                <a:solidFill>
                  <a:srgbClr val="D9E1EF"/>
                </a:solidFill>
                <a:latin typeface="Arial"/>
              </a:rPr>
              <a:t>The outfield jam, still </a:t>
            </a:r>
            <a:r>
              <a:rPr sz="1500" b="1" i="0">
                <a:solidFill>
                  <a:srgbClr val="E8615A"/>
                </a:solidFill>
                <a:latin typeface="Arial"/>
              </a:rPr>
              <a:t>masked by Roman Anthony's injury</a:t>
            </a:r>
            <a:r>
              <a:rPr sz="1500" b="0" i="0">
                <a:solidFill>
                  <a:srgbClr val="D9E1EF"/>
                </a:solidFill>
                <a:latin typeface="Arial"/>
              </a:rPr>
              <a:t>, is now a buyer's depth chart: the surplus funds the deadline instead of a teardown.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THE VERDICT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Buy, Nibble At The Edges</a:t>
            </a:r>
          </a:p>
        </p:txBody>
      </p:sp>
      <p:pic>
        <p:nvPicPr>
          <p:cNvPr id="4" name="Picture 3" descr="12_playoff_ra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113" y="1554480"/>
            <a:ext cx="6752492" cy="420624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001000" y="1819656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93608" y="1783080"/>
            <a:ext cx="3749039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450" b="1" i="0">
                <a:solidFill>
                  <a:srgbClr val="EAF0F8"/>
                </a:solidFill>
                <a:latin typeface="Arial"/>
              </a:rPr>
              <a:t>Hold Duran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200" b="0" i="0">
                <a:solidFill>
                  <a:srgbClr val="93A0B6"/>
                </a:solidFill>
                <a:latin typeface="Arial"/>
              </a:rPr>
              <a:t>Duran has had a miserable season, but his underlying numbers are better than they seem. Positive regression candidate. Let him build up his value and flip in the offseason.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01000" y="3145536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93608" y="3108960"/>
            <a:ext cx="3749039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450" b="1" i="0">
                <a:solidFill>
                  <a:srgbClr val="EAF0F8"/>
                </a:solidFill>
                <a:latin typeface="Arial"/>
              </a:rPr>
              <a:t>Keep the vets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200" b="0" i="0">
                <a:solidFill>
                  <a:srgbClr val="93A0B6"/>
                </a:solidFill>
                <a:latin typeface="Arial"/>
              </a:rPr>
              <a:t>Gray, Chapman, Contreras should not be sold now. Sell branch reopens only if the gap blows out by Aug 1.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01000" y="4471416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58C0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93608" y="4434840"/>
            <a:ext cx="3749039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450" b="1" i="0">
                <a:solidFill>
                  <a:srgbClr val="EAF0F8"/>
                </a:solidFill>
                <a:latin typeface="Arial"/>
              </a:rPr>
              <a:t>Don't disturb the clubhouse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200" b="0" i="0">
                <a:solidFill>
                  <a:srgbClr val="93A0B6"/>
                </a:solidFill>
                <a:latin typeface="Arial"/>
              </a:rPr>
              <a:t>Back-end starter, reliever, RHH.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KEEP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Young, Controllable Outfield Core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83080"/>
            <a:ext cx="3502152" cy="356616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7" y="2011680"/>
            <a:ext cx="29992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EAF0F8"/>
                </a:solidFill>
                <a:latin typeface="Arial"/>
              </a:rPr>
              <a:t>Roman Anthony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7" y="2487168"/>
            <a:ext cx="29992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E8615A"/>
                </a:solidFill>
                <a:latin typeface="Arial"/>
              </a:rPr>
              <a:t>LF · age 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7" y="2971800"/>
            <a:ext cx="299923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000" b="1" i="0">
                <a:solidFill>
                  <a:srgbClr val="58C08D"/>
                </a:solidFill>
                <a:latin typeface="Arial"/>
              </a:rPr>
              <a:t>3.8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7" y="3822191"/>
            <a:ext cx="29992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93A0B6"/>
                </a:solidFill>
                <a:latin typeface="Arial"/>
              </a:rPr>
              <a:t>projected WAR / yr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7" y="4160520"/>
            <a:ext cx="29992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D9E1EF"/>
                </a:solidFill>
                <a:latin typeface="Arial"/>
              </a:rPr>
              <a:t>$2.6M · 8yr/$130M 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7" y="4526280"/>
            <a:ext cx="2999232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0" i="0">
                <a:solidFill>
                  <a:srgbClr val="93A0B6"/>
                </a:solidFill>
                <a:latin typeface="Arial"/>
              </a:rPr>
              <a:t>Franchise bat. Untouchable. On the IL now, back in 2027.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52544" y="1783080"/>
            <a:ext cx="3502152" cy="356616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26864" y="2011680"/>
            <a:ext cx="29992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EAF0F8"/>
                </a:solidFill>
                <a:latin typeface="Arial"/>
              </a:rPr>
              <a:t>Ceddanne Rafaela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26864" y="2487168"/>
            <a:ext cx="29992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E8615A"/>
                </a:solidFill>
                <a:latin typeface="Arial"/>
              </a:rPr>
              <a:t>CF · age 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6864" y="2971800"/>
            <a:ext cx="299923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000" b="1" i="0">
                <a:solidFill>
                  <a:srgbClr val="58C08D"/>
                </a:solidFill>
                <a:latin typeface="Arial"/>
              </a:rPr>
              <a:t>3.2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6864" y="3822191"/>
            <a:ext cx="29992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93A0B6"/>
                </a:solidFill>
                <a:latin typeface="Arial"/>
              </a:rPr>
              <a:t>projected WAR / yr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6864" y="4160520"/>
            <a:ext cx="29992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D9E1EF"/>
                </a:solidFill>
                <a:latin typeface="Arial"/>
              </a:rPr>
              <a:t>$2.0M · 8yr/$50M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26864" y="4526280"/>
            <a:ext cx="2999232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0" i="0">
                <a:solidFill>
                  <a:srgbClr val="93A0B6"/>
                </a:solidFill>
                <a:latin typeface="Arial"/>
              </a:rPr>
              <a:t>Elite center-field glove + SS/utility flex. Premium position, controlled cheap.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38159" y="1783080"/>
            <a:ext cx="3502152" cy="356616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12480" y="2011680"/>
            <a:ext cx="29992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EAF0F8"/>
                </a:solidFill>
                <a:latin typeface="Arial"/>
              </a:rPr>
              <a:t>Wilyer Abreu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0" y="2487168"/>
            <a:ext cx="29992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E8615A"/>
                </a:solidFill>
                <a:latin typeface="Arial"/>
              </a:rPr>
              <a:t>RF · age 27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0" y="2971800"/>
            <a:ext cx="299923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000" b="1" i="0">
                <a:solidFill>
                  <a:srgbClr val="58C08D"/>
                </a:solidFill>
                <a:latin typeface="Arial"/>
              </a:rPr>
              <a:t>2.8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0" y="3822191"/>
            <a:ext cx="29992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93A0B6"/>
                </a:solidFill>
                <a:latin typeface="Arial"/>
              </a:rPr>
              <a:t>projected WAR / yr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0" y="4160520"/>
            <a:ext cx="29992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D9E1EF"/>
                </a:solidFill>
                <a:latin typeface="Arial"/>
              </a:rPr>
              <a:t>$0.8M · pre-arb → 2029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2480" y="4526280"/>
            <a:ext cx="2999232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0" i="0">
                <a:solidFill>
                  <a:srgbClr val="93A0B6"/>
                </a:solidFill>
                <a:latin typeface="Arial"/>
              </a:rPr>
              <a:t>Best surplus on the roster: plus RF glove, above-average LH bat.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5532120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1">
                <a:solidFill>
                  <a:srgbClr val="EAF0F8"/>
                </a:solidFill>
                <a:latin typeface="Arial"/>
              </a:rPr>
              <a:t>Three spots, locked. Everything else flexes around them.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MOVE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The 4th Outfield Spot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83080"/>
            <a:ext cx="5358384" cy="361188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2029968"/>
            <a:ext cx="480974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 i="0">
                <a:solidFill>
                  <a:srgbClr val="EAF0F8"/>
                </a:solidFill>
                <a:latin typeface="Arial"/>
              </a:rPr>
              <a:t>Jarren Duran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" y="2542032"/>
            <a:ext cx="48097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E8615A"/>
                </a:solidFill>
                <a:latin typeface="Arial"/>
              </a:rPr>
              <a:t>LF/CF · 29 · $7.7M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59536" y="3108960"/>
            <a:ext cx="118872" cy="118872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3063240"/>
            <a:ext cx="448970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350" b="1" i="0">
                <a:solidFill>
                  <a:srgbClr val="D9E1EF"/>
                </a:solidFill>
                <a:latin typeface="Arial"/>
              </a:rPr>
              <a:t>Movable piece. </a:t>
            </a:r>
            <a:r>
              <a:rPr sz="1300" b="0" i="0">
                <a:solidFill>
                  <a:srgbClr val="93A0B6"/>
                </a:solidFill>
                <a:latin typeface="Arial"/>
              </a:rPr>
              <a:t>Controllable through 2028; above-average at true talent (~110 wRC+). Redundant behind the core and the priciest of the young group.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9536" y="4251959"/>
            <a:ext cx="118872" cy="118872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4206240"/>
            <a:ext cx="448970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350" b="1" i="0">
                <a:solidFill>
                  <a:srgbClr val="D9E1EF"/>
                </a:solidFill>
                <a:latin typeface="Arial"/>
              </a:rPr>
              <a:t>Hold at the deadline. </a:t>
            </a:r>
            <a:r>
              <a:rPr sz="1300" b="0" i="0">
                <a:solidFill>
                  <a:srgbClr val="93A0B6"/>
                </a:solidFill>
                <a:latin typeface="Arial"/>
              </a:rPr>
              <a:t>Duran has had a miserable season, but his underlying numbers are better than they seem. Positive regression candidate. Let him build up his value and flip in the offseason.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27064" y="1783080"/>
            <a:ext cx="5358384" cy="361188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19672" y="2029968"/>
            <a:ext cx="480974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 i="0">
                <a:solidFill>
                  <a:srgbClr val="EAF0F8"/>
                </a:solidFill>
                <a:latin typeface="Arial"/>
              </a:rPr>
              <a:t>Masataka Yoshida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19672" y="2542032"/>
            <a:ext cx="48097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93A0B6"/>
                </a:solidFill>
                <a:latin typeface="Arial"/>
              </a:rPr>
              <a:t>DH · 32 · $18.6M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19672" y="3108960"/>
            <a:ext cx="118872" cy="118872"/>
          </a:xfrm>
          <a:prstGeom prst="roundRect">
            <a:avLst>
              <a:gd name="adj" fmla="val 18000"/>
            </a:avLst>
          </a:prstGeom>
          <a:solidFill>
            <a:srgbClr val="93A0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57416" y="3063240"/>
            <a:ext cx="448970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350" b="1" i="0">
                <a:solidFill>
                  <a:srgbClr val="D9E1EF"/>
                </a:solidFill>
                <a:latin typeface="Arial"/>
              </a:rPr>
              <a:t>The contract, not the bat. </a:t>
            </a:r>
            <a:r>
              <a:rPr sz="1300" b="0" i="0">
                <a:solidFill>
                  <a:srgbClr val="93A0B6"/>
                </a:solidFill>
                <a:latin typeface="Arial"/>
              </a:rPr>
              <a:t>He's hitting: above-average wRC+, .340-class OBP, one of MLB's lowest strikeout rates. $18.6M for a DH with below-average pop is still underwater as an asset.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19672" y="4251959"/>
            <a:ext cx="118872" cy="118872"/>
          </a:xfrm>
          <a:prstGeom prst="roundRect">
            <a:avLst>
              <a:gd name="adj" fmla="val 18000"/>
            </a:avLst>
          </a:prstGeom>
          <a:solidFill>
            <a:srgbClr val="93A0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57416" y="4206240"/>
            <a:ext cx="448970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350" b="1" i="0">
                <a:solidFill>
                  <a:srgbClr val="D9E1EF"/>
                </a:solidFill>
                <a:latin typeface="Arial"/>
              </a:rPr>
              <a:t>Keep him in the lineup. </a:t>
            </a:r>
            <a:r>
              <a:rPr sz="1300" b="0" i="0">
                <a:solidFill>
                  <a:srgbClr val="93A0B6"/>
                </a:solidFill>
                <a:latin typeface="Arial"/>
              </a:rPr>
              <a:t>Gonzalez covers the tougher lefties. Platoon the DH spot and let it ride.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5623560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50" b="1" i="1">
                <a:solidFill>
                  <a:srgbClr val="E3B14E"/>
                </a:solidFill>
                <a:latin typeface="Arial"/>
              </a:rPr>
              <a:t>With Roman's status up in the air, hold both outfielders through this season.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DON'T SELL 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Duran's 2026 Is Unlucky</a:t>
            </a:r>
          </a:p>
        </p:txBody>
      </p:sp>
      <p:pic>
        <p:nvPicPr>
          <p:cNvPr id="4" name="Picture 3" descr="01_babip_vs_leag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00200"/>
            <a:ext cx="6309360" cy="3722378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040880" y="1700784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33488" y="1664208"/>
            <a:ext cx="4572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2024 was more what we should expect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BABIP .344 vs xBABIP .333; xwOBA .340 legit. Legs are still there, and defense is definitely improved.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040880" y="2761488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33488" y="2724912"/>
            <a:ext cx="4572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2026 is the real anomaly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wOBA .263 BELOW its .293 xwOBA, 34 to 43 pts under his own norm; BABIP .238 vs .309 expected.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40880" y="3822191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3B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33488" y="3785615"/>
            <a:ext cx="4572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The legs are fine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Speed, baserunning and fielding all still plus. No injury.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040880" y="4882896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58C0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33488" y="4846320"/>
            <a:ext cx="4572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True talent ≈ his 2025 (~110 wRC+)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An above-average regular. The 2024 high and 2026 low are tails around that plateau.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0" y="5934456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1" i="1">
                <a:solidFill>
                  <a:srgbClr val="E8615A"/>
                </a:solidFill>
                <a:latin typeface="Arial"/>
              </a:rPr>
              <a:t>Wait for the rebound.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THE REBOUND MATH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Duran Will Be Back</a:t>
            </a:r>
          </a:p>
        </p:txBody>
      </p:sp>
      <p:pic>
        <p:nvPicPr>
          <p:cNvPr id="4" name="Picture 3" descr="09_rebound_prob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0"/>
            <a:ext cx="7589520" cy="32548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0" y="1645920"/>
            <a:ext cx="3383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93A0B6"/>
                </a:solidFill>
                <a:latin typeface="Arial"/>
              </a:rPr>
              <a:t>P(REST-OF-SEASON wRC+ ≥ 100)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1965960"/>
            <a:ext cx="33832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400" b="1" i="0">
                <a:solidFill>
                  <a:srgbClr val="58C08D"/>
                </a:solidFill>
                <a:latin typeface="Arial"/>
              </a:rPr>
              <a:t>69%</a:t>
            </a:r>
            <a:r>
              <a:rPr sz="1250" b="0" i="0">
                <a:solidFill>
                  <a:srgbClr val="93A0B6"/>
                </a:solidFill>
                <a:latin typeface="Arial"/>
              </a:rPr>
              <a:t>  healthy prior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400" b="1" i="0">
                <a:solidFill>
                  <a:srgbClr val="E8615A"/>
                </a:solidFill>
                <a:latin typeface="Arial"/>
              </a:rPr>
              <a:t>47%</a:t>
            </a:r>
            <a:r>
              <a:rPr sz="1250" b="0" i="0">
                <a:solidFill>
                  <a:srgbClr val="93A0B6"/>
                </a:solidFill>
                <a:latin typeface="Arial"/>
              </a:rPr>
              <a:t>  erosion-blended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3520440"/>
            <a:ext cx="3383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93A0B6"/>
                </a:solidFill>
                <a:latin typeface="Arial"/>
              </a:rPr>
              <a:t>EXPECTED OFFSEASON TRADE VALUE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3840480"/>
            <a:ext cx="3383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400" b="1" i="0">
                <a:solidFill>
                  <a:srgbClr val="EAF0F8"/>
                </a:solidFill>
                <a:latin typeface="Arial"/>
              </a:rPr>
              <a:t>$22M</a:t>
            </a:r>
            <a:r>
              <a:rPr sz="1300" b="0" i="0">
                <a:solidFill>
                  <a:srgbClr val="93A0B6"/>
                </a:solidFill>
                <a:latin typeface="Arial"/>
              </a:rPr>
              <a:t> vs </a:t>
            </a:r>
            <a:r>
              <a:rPr sz="2400" b="1" i="0">
                <a:solidFill>
                  <a:srgbClr val="EAF0F8"/>
                </a:solidFill>
                <a:latin typeface="Arial"/>
              </a:rPr>
              <a:t>$18M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50" b="0" i="0">
                <a:solidFill>
                  <a:srgbClr val="93A0B6"/>
                </a:solidFill>
                <a:latin typeface="Arial"/>
              </a:rPr>
              <a:t>either way, well above the ~$10M a July sale fetches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562356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50" b="1" i="0">
                <a:solidFill>
                  <a:srgbClr val="E8615A"/>
                </a:solidFill>
                <a:latin typeface="Arial"/>
              </a:rPr>
              <a:t>The honest line: </a:t>
            </a:r>
            <a:r>
              <a:rPr sz="1350" b="0" i="0">
                <a:solidFill>
                  <a:srgbClr val="D9E1EF"/>
                </a:solidFill>
                <a:latin typeface="Arial"/>
              </a:rPr>
              <a:t>the 22-point probability gap is the price of the worse chase / whiff / hard-hit rates. Hold-through-2026 survives the erosion stress test, but with less confidence in the rebound narrative itself.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THE TIEBREAKER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Duran Swing Stats</a:t>
            </a:r>
          </a:p>
        </p:txBody>
      </p:sp>
      <p:pic>
        <p:nvPicPr>
          <p:cNvPr id="4" name="Picture 3" descr="10_erosion_decompos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5538" y="1554480"/>
            <a:ext cx="9117874" cy="292608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617720"/>
            <a:ext cx="3502152" cy="169164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4672" y="4754880"/>
            <a:ext cx="304495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 i="0">
                <a:solidFill>
                  <a:srgbClr val="58C08D"/>
                </a:solidFill>
                <a:latin typeface="Arial"/>
              </a:rPr>
              <a:t>74.5 mph</a:t>
            </a:r>
            <a:r>
              <a:rPr sz="1050" b="0" i="0">
                <a:solidFill>
                  <a:srgbClr val="93A0B6"/>
                </a:solidFill>
                <a:latin typeface="Arial"/>
              </a:rPr>
              <a:t>  avg bat speed 2026, up from 72.7 in '24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5285232"/>
            <a:ext cx="304495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400"/>
              </a:spcAft>
            </a:pPr>
            <a:r>
              <a:rPr sz="1080" b="0" i="0">
                <a:solidFill>
                  <a:srgbClr val="D9E1EF"/>
                </a:solidFill>
                <a:latin typeface="Arial"/>
              </a:rPr>
              <a:t>Duran is swinging harder, longer and steeper than ever.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52544" y="4617720"/>
            <a:ext cx="3502152" cy="169164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90288" y="4754880"/>
            <a:ext cx="304495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 i="0">
                <a:solidFill>
                  <a:srgbClr val="E8615A"/>
                </a:solidFill>
                <a:latin typeface="Arial"/>
              </a:rPr>
              <a:t>29% whiff vs 95+</a:t>
            </a:r>
            <a:r>
              <a:rPr sz="1050" b="0" i="0">
                <a:solidFill>
                  <a:srgbClr val="93A0B6"/>
                </a:solidFill>
                <a:latin typeface="Arial"/>
              </a:rPr>
              <a:t>  up from 16% in '24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90288" y="5285232"/>
            <a:ext cx="304495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400"/>
              </a:spcAft>
            </a:pPr>
            <a:r>
              <a:rPr sz="1080" b="0" i="0">
                <a:solidFill>
                  <a:srgbClr val="D9E1EF"/>
                </a:solidFill>
                <a:latin typeface="Arial"/>
              </a:rPr>
              <a:t>Whiffs on a rising bat speed. Breaking-ball chase actually improved, the problem is on velocity.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59" y="4617720"/>
            <a:ext cx="3502152" cy="169164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75903" y="4754880"/>
            <a:ext cx="304495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 i="0">
                <a:solidFill>
                  <a:srgbClr val="EAF0F8"/>
                </a:solidFill>
                <a:latin typeface="Arial"/>
              </a:rPr>
              <a:t>60 / 40</a:t>
            </a:r>
            <a:r>
              <a:rPr sz="1050" b="0" i="0">
                <a:solidFill>
                  <a:srgbClr val="93A0B6"/>
                </a:solidFill>
                <a:latin typeface="Arial"/>
              </a:rPr>
              <a:t>  re-weighted scenario odds → 60% rebound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75903" y="5285232"/>
            <a:ext cx="304495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400"/>
              </a:spcAft>
            </a:pPr>
            <a:r>
              <a:rPr sz="1080" b="0" i="0">
                <a:solidFill>
                  <a:srgbClr val="D9E1EF"/>
                </a:solidFill>
                <a:latin typeface="Arial"/>
              </a:rPr>
              <a:t>Approach is fixable (see his own 2022→23 chase overhaul); the tools a buyer prices are intact.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CONTEXT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Aging Not A Factor For Jarren</a:t>
            </a:r>
          </a:p>
        </p:txBody>
      </p:sp>
      <p:pic>
        <p:nvPicPr>
          <p:cNvPr id="4" name="Picture 3" descr="04_age_curve_overl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8920" y="1508760"/>
            <a:ext cx="6629400" cy="392311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580644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 i="0">
                <a:solidFill>
                  <a:srgbClr val="D9E1EF"/>
                </a:solidFill>
                <a:latin typeface="Arial"/>
              </a:rPr>
              <a:t>2024 → 2026 wRC+ fell ~70 points; a normal age 27→29 curve predicts only ~7. </a:t>
            </a:r>
            <a:r>
              <a:rPr sz="1400" b="1" i="0">
                <a:solidFill>
                  <a:srgbClr val="EAF0F8"/>
                </a:solidFill>
                <a:latin typeface="Arial"/>
              </a:rPr>
              <a:t>The gap is mean-reversion from an inflated peak plus a 2026 bad-luck tail, not a skill cliff.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IF THEY BUY, WHERE?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Left Field Is A Black Hole In 2026</a:t>
            </a:r>
          </a:p>
        </p:txBody>
      </p:sp>
      <p:pic>
        <p:nvPicPr>
          <p:cNvPr id="4" name="Picture 3" descr="13_positional_aud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5189" y="1554480"/>
            <a:ext cx="6816340" cy="420624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001000" y="1773936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93608" y="1737360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LF −31: internal fix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Duran's regression, now sheltered by a Jahmai Jones platoon, plus Anthony's eventual return. Free.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01000" y="2889504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93608" y="2852928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SS −18: the true target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One controllable infield stabilizer is the only lineup trade that fits the odds.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01000" y="4005072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3B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93608" y="3968496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Bullpen: quiet weakness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ERA top-10 but FIP and reliever WAR rank far worse, it will regress without help.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5120640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58C0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93608" y="5084064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The Contreras twist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The winter's reported sell candidate is now their best hitter. Moving him would be met with outrage.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THE SUPPORTING CAST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Regression Candidates</a:t>
            </a:r>
          </a:p>
        </p:txBody>
      </p:sp>
      <p:pic>
        <p:nvPicPr>
          <p:cNvPr id="4" name="Picture 3" descr="17_aaaa_aud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600200"/>
            <a:ext cx="7315200" cy="2434241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001000" y="1664208"/>
            <a:ext cx="137160" cy="137160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93608" y="1627632"/>
            <a:ext cx="3749039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250" b="1" i="0">
                <a:solidFill>
                  <a:srgbClr val="EAF0F8"/>
                </a:solidFill>
                <a:latin typeface="Arial"/>
              </a:rPr>
              <a:t>5 AAAA contributors on the roster</a:t>
            </a:r>
          </a:p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80" b="0" i="0">
                <a:solidFill>
                  <a:srgbClr val="93A0B6"/>
                </a:solidFill>
                <a:latin typeface="Arial"/>
              </a:rPr>
              <a:t>Waiver claims, up-down arms and career minor-leaguers holding real roles, +1.3 WAR combined.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01000" y="2633472"/>
            <a:ext cx="137160" cy="137160"/>
          </a:xfrm>
          <a:prstGeom prst="roundRect">
            <a:avLst>
              <a:gd name="adj" fmla="val 18000"/>
            </a:avLst>
          </a:prstGeom>
          <a:solidFill>
            <a:srgbClr val="E3B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93608" y="2596896"/>
            <a:ext cx="3749039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250" b="1" i="0">
                <a:solidFill>
                  <a:srgbClr val="EAF0F8"/>
                </a:solidFill>
                <a:latin typeface="Arial"/>
              </a:rPr>
              <a:t>1 career best, 2 rookies</a:t>
            </a:r>
          </a:p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80" b="0" i="0">
                <a:solidFill>
                  <a:srgbClr val="93A0B6"/>
                </a:solidFill>
                <a:latin typeface="Arial"/>
              </a:rPr>
              <a:t>The vets are beating their own track records; the rookies have no baseline at all.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01000" y="3602736"/>
            <a:ext cx="137160" cy="137160"/>
          </a:xfrm>
          <a:prstGeom prst="roundRect">
            <a:avLst>
              <a:gd name="adj" fmla="val 18000"/>
            </a:avLst>
          </a:prstGeom>
          <a:solidFill>
            <a:srgbClr val="5FB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93608" y="3566160"/>
            <a:ext cx="3749039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250" b="1" i="0">
                <a:solidFill>
                  <a:srgbClr val="EAF0F8"/>
                </a:solidFill>
                <a:latin typeface="Arial"/>
              </a:rPr>
              <a:t>The regulars are hot too</a:t>
            </a:r>
          </a:p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80" b="0" i="0">
                <a:solidFill>
                  <a:srgbClr val="93A0B6"/>
                </a:solidFill>
                <a:latin typeface="Arial"/>
              </a:rPr>
              <a:t>Same screen, lineup and rotation: Contreras +130 OPS pts, Rafaela +76 OPS pts; Gray and Suarez are also under their career ERAs. Expect good, not scorching, from here.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4572000"/>
            <a:ext cx="137160" cy="137160"/>
          </a:xfrm>
          <a:prstGeom prst="roundRect">
            <a:avLst>
              <a:gd name="adj" fmla="val 18000"/>
            </a:avLst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93608" y="4535424"/>
            <a:ext cx="3749039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250" b="1" i="0">
                <a:solidFill>
                  <a:srgbClr val="EAF0F8"/>
                </a:solidFill>
                <a:latin typeface="Arial"/>
              </a:rPr>
              <a:t>History backs the fade</a:t>
            </a:r>
          </a:p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80" b="0" i="0">
                <a:solidFill>
                  <a:srgbClr val="93A0B6"/>
                </a:solidFill>
                <a:latin typeface="Arial"/>
              </a:rPr>
              <a:t>2016-25, 100 hitter and 198 reliever cases: the median journeyman kept only 39% of a career-best first half (fig. 20).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01000" y="5541264"/>
            <a:ext cx="137160" cy="137160"/>
          </a:xfrm>
          <a:prstGeom prst="roundRect">
            <a:avLst>
              <a:gd name="adj" fmla="val 18000"/>
            </a:avLst>
          </a:prstGeom>
          <a:solidFill>
            <a:srgbClr val="58C0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93608" y="5504688"/>
            <a:ext cx="3749039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250" b="1" i="0">
                <a:solidFill>
                  <a:srgbClr val="EAF0F8"/>
                </a:solidFill>
                <a:latin typeface="Arial"/>
              </a:rPr>
              <a:t>Buy Buy Buy</a:t>
            </a:r>
          </a:p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80" b="0" i="0">
                <a:solidFill>
                  <a:srgbClr val="93A0B6"/>
                </a:solidFill>
                <a:latin typeface="Arial"/>
              </a:rPr>
              <a:t>Pick up a seasoned reliever and a right-handed hitter.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THE BASE RATE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Career-year First Halves Usually Give Back</a:t>
            </a:r>
          </a:p>
        </p:txBody>
      </p:sp>
      <p:pic>
        <p:nvPicPr>
          <p:cNvPr id="4" name="Picture 3" descr="20_aaaa_backt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0"/>
            <a:ext cx="7315200" cy="2396802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001000" y="1773936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93608" y="1737360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298 historical cases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2016-2025: 100 hitters and 198 relievers with the same profile as Boston's AAAA group: thin track record, age 26+, career-best first half.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01000" y="2889504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93608" y="2852928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Median kept 39%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The typical hitter held only 39% of his surge after July; relievers 37%.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01000" y="4005072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3B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93608" y="3968496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A third fell all the way back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34% of hitters and 37% of relievers finished the second half at or below their career level.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5120640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58C0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93608" y="5084064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So the surge is rented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Plan for the median, not the heater: replace borrowed production before August returns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THE CHEMISTRY VETO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Don't Mess Up The Pitching Staff</a:t>
            </a:r>
          </a:p>
        </p:txBody>
      </p:sp>
      <p:pic>
        <p:nvPicPr>
          <p:cNvPr id="4" name="Picture 3" descr="14_battery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0"/>
            <a:ext cx="7315200" cy="344461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001000" y="1773936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93608" y="1737360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The staff works with both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3.42 RA9 with Wong, 4.20 with Narváez, the run-prevention core of the season.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01000" y="2889504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93608" y="2852928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Every arm has a guy. Don't mess with that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Gray / Wong. Bennett / Narvaez. Settled, deliberate assignments across the rotation.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01000" y="4005072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58C0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93608" y="3968496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So: no catcher trade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League catchers hit ~90 wRC+ and Wong beats that bar; the gap is all Narvaez's bat, and his value is the glove. The adjusted model agrees: -31 pts, CI [-84, +21], no significant catcher effect. A power bat would cost a top arm to fix a half-time problem.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THE MENU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Possible Trades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691640"/>
            <a:ext cx="5358384" cy="1938528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856232"/>
            <a:ext cx="485546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58C08D"/>
                </a:solidFill>
                <a:latin typeface="Arial"/>
              </a:rPr>
              <a:t>1 · THE PEN FIX · DO 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48554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50" b="1" i="0">
                <a:solidFill>
                  <a:srgbClr val="EAF0F8"/>
                </a:solidFill>
                <a:latin typeface="Arial"/>
              </a:rPr>
              <a:t>RHP Luke Weaver (NYM)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560320"/>
            <a:ext cx="4855464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For a 45 FV + 40 FV, prospects only, nobody loses a job or an inning. Elite relief year, signed through '27. The highest-probability marginal win on the board.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27064" y="1691640"/>
            <a:ext cx="5358384" cy="1938528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83096" y="1856232"/>
            <a:ext cx="485546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EAF0F8"/>
                </a:solidFill>
                <a:latin typeface="Arial"/>
              </a:rPr>
              <a:t>2 · MID LEVEL STARTER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83096" y="2148840"/>
            <a:ext cx="48554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50" b="1" i="0">
                <a:solidFill>
                  <a:srgbClr val="EAF0F8"/>
                </a:solidFill>
                <a:latin typeface="Arial"/>
              </a:rPr>
              <a:t>RHP Michael Wacha (KCR)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83096" y="2560320"/>
            <a:ext cx="4855464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A 40 FV flier for a veteran back-end starter while Crochet and Sandoval build back. Buy-low alt: Gausman, whose FIP beats his ERA, the mirror of the Early sale.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886200"/>
            <a:ext cx="5358384" cy="1938528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050791"/>
            <a:ext cx="485546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E8615A"/>
                </a:solidFill>
                <a:latin typeface="Arial"/>
              </a:rPr>
              <a:t>3 · THE SHORTSTOP · PROBABLY WAIT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343400"/>
            <a:ext cx="48554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50" b="1" i="0">
                <a:solidFill>
                  <a:srgbClr val="EAF0F8"/>
                </a:solidFill>
                <a:latin typeface="Arial"/>
              </a:rPr>
              <a:t>SS Zach Neto (LAA)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754880"/>
            <a:ext cx="4855464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For Tolle / Bennett + a 45 FV: two arms out of a winning rotation midseason. Right for the franchise window, and still there in the winter. Blocks Mayer or Arias as well. Controlled through 2029.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27064" y="3886200"/>
            <a:ext cx="5358384" cy="1938528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83096" y="4050791"/>
            <a:ext cx="485546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E3B14E"/>
                </a:solidFill>
                <a:latin typeface="Arial"/>
              </a:rPr>
              <a:t>✗ · THE WALK-AWAY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83096" y="4343400"/>
            <a:ext cx="48554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50" b="1" i="0">
                <a:solidFill>
                  <a:srgbClr val="EAF0F8"/>
                </a:solidFill>
                <a:latin typeface="Arial"/>
              </a:rPr>
              <a:t>C Shea Langeliers (ATH) / Hunter Goodman (COL)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3096" y="4754880"/>
            <a:ext cx="4855464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Not worth overpaying for either. Langeliers just hit the 10-day IL with a torn meniscus, so Goodman's price shoots through the roof. Boston was right not to pay for a catcher bat it never needed.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5897880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D9E1EF"/>
                </a:solidFill>
                <a:latin typeface="Arial"/>
              </a:rPr>
              <a:t>A menu, not a plan, Boston can afford about two. </a:t>
            </a:r>
            <a:r>
              <a:rPr sz="1250" b="0" i="0">
                <a:solidFill>
                  <a:srgbClr val="93A0B6"/>
                </a:solidFill>
                <a:latin typeface="Arial"/>
              </a:rPr>
              <a:t>Full value math and verified contracts in the mock-trades memo. Hypotheticals, not reporting.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THE REAL TRADE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New Acquisition: Mead Breakdown</a:t>
            </a:r>
          </a:p>
        </p:txBody>
      </p:sp>
      <p:pic>
        <p:nvPicPr>
          <p:cNvPr id="4" name="Picture 3" descr="19_mead_fenw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640" y="1481328"/>
            <a:ext cx="6401438" cy="457200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001000" y="1773936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93608" y="1737360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The deal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Curtis Mead (25) from Washington for Connelly Early: one surplus arm for a former top-100 prospect at a 134 wRC+ with years of club control.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01000" y="2889504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93608" y="2852928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The Fenway fit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23% pull-air rate (82nd pctile). Replaying his Monster-zone contact as wall doubles takes him from a .376 wOBA to about .386 on a half-home schedule.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01000" y="4005072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3B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93608" y="3968496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Earned, mostly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.376 wOBA against a .359 xwOBA, so the breakout has contact quality behind it. The flag: 488 PA of .617 OPS before this year.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5120640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58C0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93608" y="5084064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Menu grade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The big-swing shape at half the price, and the infield hole filled. The pen fix is still open, 8 days left.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THE TRADE, GRADED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Why Mead for Early wins for Boston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691640"/>
            <a:ext cx="5358384" cy="329184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1920240"/>
            <a:ext cx="480974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EAF0F8"/>
                </a:solidFill>
                <a:latin typeface="Arial"/>
              </a:rPr>
              <a:t>What they gave: Connelly Early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9536" y="2560320"/>
            <a:ext cx="118872" cy="118872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514600"/>
            <a:ext cx="4489704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9000"/>
              </a:lnSpc>
              <a:spcAft>
                <a:spcPts val="400"/>
              </a:spcAft>
            </a:pPr>
            <a:r>
              <a:rPr sz="1300" b="1" i="0">
                <a:solidFill>
                  <a:srgbClr val="D9E1EF"/>
                </a:solidFill>
                <a:latin typeface="Arial"/>
              </a:rPr>
              <a:t>The ERA flattered him. </a:t>
            </a:r>
            <a:r>
              <a:rPr sz="1220" b="0" i="0">
                <a:solidFill>
                  <a:srgbClr val="93A0B6"/>
                </a:solidFill>
                <a:latin typeface="Arial"/>
              </a:rPr>
              <a:t>3.44 ERA over a 4.61 FIP, a +1.17 gap, the most of any Boston starter. Sold at peak perception.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9536" y="3749039"/>
            <a:ext cx="118872" cy="118872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3703320"/>
            <a:ext cx="4489704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9000"/>
              </a:lnSpc>
              <a:spcAft>
                <a:spcPts val="400"/>
              </a:spcAft>
            </a:pPr>
            <a:r>
              <a:rPr sz="1300" b="1" i="0">
                <a:solidFill>
                  <a:srgbClr val="D9E1EF"/>
                </a:solidFill>
                <a:latin typeface="Arial"/>
              </a:rPr>
              <a:t>The smallest frame in the pipeline. </a:t>
            </a:r>
            <a:r>
              <a:rPr sz="1220" b="0" i="0">
                <a:solidFill>
                  <a:srgbClr val="93A0B6"/>
                </a:solidFill>
                <a:latin typeface="Arial"/>
              </a:rPr>
              <a:t>6' 3", 195 lbs. Durability risk the org's other arms don't carry.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27064" y="1691640"/>
            <a:ext cx="5358384" cy="329184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19672" y="1920240"/>
            <a:ext cx="480974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EAF0F8"/>
                </a:solidFill>
                <a:latin typeface="Arial"/>
              </a:rPr>
              <a:t>What they got: Curtis Mead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19672" y="2560320"/>
            <a:ext cx="118872" cy="118872"/>
          </a:xfrm>
          <a:prstGeom prst="roundRect">
            <a:avLst>
              <a:gd name="adj" fmla="val 18000"/>
            </a:avLst>
          </a:prstGeom>
          <a:solidFill>
            <a:srgbClr val="58C0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57416" y="2514600"/>
            <a:ext cx="4489704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9000"/>
              </a:lnSpc>
              <a:spcAft>
                <a:spcPts val="400"/>
              </a:spcAft>
            </a:pPr>
            <a:r>
              <a:rPr sz="1300" b="1" i="0">
                <a:solidFill>
                  <a:srgbClr val="D9E1EF"/>
                </a:solidFill>
                <a:latin typeface="Arial"/>
              </a:rPr>
              <a:t>A controllable, earned bat. </a:t>
            </a:r>
            <a:r>
              <a:rPr sz="1220" b="0" i="0">
                <a:solidFill>
                  <a:srgbClr val="93A0B6"/>
                </a:solidFill>
                <a:latin typeface="Arial"/>
              </a:rPr>
              <a:t>Former top-100 prospect, 134 wRC+ at 25, backed by a .359 xwOBA. Years of club control at the position the audit flagged.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19672" y="3749039"/>
            <a:ext cx="118872" cy="118872"/>
          </a:xfrm>
          <a:prstGeom prst="roundRect">
            <a:avLst>
              <a:gd name="adj" fmla="val 18000"/>
            </a:avLst>
          </a:prstGeom>
          <a:solidFill>
            <a:srgbClr val="58C0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57416" y="3703320"/>
            <a:ext cx="4489704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9000"/>
              </a:lnSpc>
              <a:spcAft>
                <a:spcPts val="400"/>
              </a:spcAft>
            </a:pPr>
            <a:r>
              <a:rPr sz="1300" b="1" i="0">
                <a:solidFill>
                  <a:srgbClr val="D9E1EF"/>
                </a:solidFill>
                <a:latin typeface="Arial"/>
              </a:rPr>
              <a:t>Built for the park. </a:t>
            </a:r>
            <a:r>
              <a:rPr sz="1220" b="0" i="0">
                <a:solidFill>
                  <a:srgbClr val="93A0B6"/>
                </a:solidFill>
                <a:latin typeface="Arial"/>
              </a:rPr>
              <a:t>23% pull-air rate (82nd percentile). RHB pull-air plays to the Monster.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525780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 i="0">
                <a:solidFill>
                  <a:srgbClr val="E3B14E"/>
                </a:solidFill>
                <a:latin typeface="Arial"/>
              </a:rPr>
              <a:t>The factory keeps producing:  </a:t>
            </a:r>
            <a:r>
              <a:rPr sz="1300" b="0" i="0">
                <a:solidFill>
                  <a:srgbClr val="D9E1EF"/>
                </a:solidFill>
                <a:latin typeface="Arial"/>
              </a:rPr>
              <a:t>Tolle (6' 6", 250 lbs, 3.31 ERA / 3.24 FIP) and Bennett (6' 6", 234 lbs, 2.58 / 3.12) are bigger, more durable and better by FIP. Boston develops arms; it bought the bat it could not grow.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8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566928"/>
            <a:ext cx="310896" cy="310896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0120" y="54864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C9D2E3"/>
                </a:solidFill>
                <a:latin typeface="Arial"/>
              </a:rPr>
              <a:t>BOTTOM 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96012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000" b="1" i="0">
                <a:solidFill>
                  <a:srgbClr val="F4F7FC"/>
                </a:solidFill>
                <a:latin typeface="Arial"/>
              </a:rPr>
              <a:t>What I'd Do Before August 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874519"/>
            <a:ext cx="11064240" cy="137160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057400"/>
            <a:ext cx="2606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400" b="1" i="0">
                <a:solidFill>
                  <a:srgbClr val="E8615A"/>
                </a:solidFill>
                <a:latin typeface="Courier New"/>
              </a:rPr>
              <a:t>78%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761488"/>
            <a:ext cx="2606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 i="0">
                <a:solidFill>
                  <a:srgbClr val="8C97AC"/>
                </a:solidFill>
                <a:latin typeface="Courier New"/>
              </a:rPr>
              <a:t>PLAYOFF ODDS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75888" y="2057400"/>
            <a:ext cx="2606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400" b="1" i="0">
                <a:solidFill>
                  <a:srgbClr val="F4F7FC"/>
                </a:solidFill>
                <a:latin typeface="Courier New"/>
              </a:rPr>
              <a:t>+41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75888" y="2761488"/>
            <a:ext cx="2606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 i="0">
                <a:solidFill>
                  <a:srgbClr val="8C97AC"/>
                </a:solidFill>
                <a:latin typeface="Courier New"/>
              </a:rPr>
              <a:t>RUN DIFF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83096" y="2057400"/>
            <a:ext cx="2606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400" b="1" i="0">
                <a:solidFill>
                  <a:srgbClr val="F4F7FC"/>
                </a:solidFill>
                <a:latin typeface="Courier New"/>
              </a:rPr>
              <a:t>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83096" y="2761488"/>
            <a:ext cx="2606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 i="0">
                <a:solidFill>
                  <a:srgbClr val="8C97AC"/>
                </a:solidFill>
                <a:latin typeface="Courier New"/>
              </a:rPr>
              <a:t>DAYS LEFT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90304" y="2057400"/>
            <a:ext cx="2606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400" b="1" i="0">
                <a:solidFill>
                  <a:srgbClr val="F4F7FC"/>
                </a:solidFill>
                <a:latin typeface="Courier New"/>
              </a:rPr>
              <a:t>39%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90304" y="2761488"/>
            <a:ext cx="2606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 i="0">
                <a:solidFill>
                  <a:srgbClr val="8C97AC"/>
                </a:solidFill>
                <a:latin typeface="Courier New"/>
              </a:rPr>
              <a:t>OF A CAREER-BEST HALF SURVIVES, HISTORICALLY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630168"/>
            <a:ext cx="384048" cy="384048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>
                <a:solidFill>
                  <a:srgbClr val="0B1220"/>
                </a:solidFill>
                <a:latin typeface="Courier New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593592"/>
            <a:ext cx="10241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850" b="1" i="0">
                <a:solidFill>
                  <a:srgbClr val="F4F7FC"/>
                </a:solidFill>
                <a:latin typeface="Arial"/>
              </a:rPr>
              <a:t>Finish the shopping: a reliever and innings.  </a:t>
            </a:r>
            <a:r>
              <a:rPr sz="1350" b="0" i="0">
                <a:solidFill>
                  <a:srgbClr val="CDD4E2"/>
                </a:solidFill>
                <a:latin typeface="Arial"/>
              </a:rPr>
              <a:t>A Weaver-class arm for prospects and a Wacha-class starter for a flier. Nobody in the room loses a job; two quiet wins get covered.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526279"/>
            <a:ext cx="384048" cy="384048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>
                <a:solidFill>
                  <a:srgbClr val="0B1220"/>
                </a:solidFill>
                <a:latin typeface="Courier New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4489704"/>
            <a:ext cx="10241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850" b="1" i="0">
                <a:solidFill>
                  <a:srgbClr val="F4F7FC"/>
                </a:solidFill>
                <a:latin typeface="Arial"/>
              </a:rPr>
              <a:t>Trust the diagnosis, not the heater.  </a:t>
            </a:r>
            <a:r>
              <a:rPr sz="1350" b="0" i="0">
                <a:solidFill>
                  <a:srgbClr val="CDD4E2"/>
                </a:solidFill>
                <a:latin typeface="Arial"/>
              </a:rPr>
              <a:t>The regression watch says plan for the fade. Mead, the returning injured bats, and Duran's own regression are the real September lineup.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5422392"/>
            <a:ext cx="384048" cy="384048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>
                <a:solidFill>
                  <a:srgbClr val="0B1220"/>
                </a:solidFill>
                <a:latin typeface="Courier New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5385816"/>
            <a:ext cx="10241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850" b="1" i="0">
                <a:solidFill>
                  <a:srgbClr val="F4F7FC"/>
                </a:solidFill>
                <a:latin typeface="Arial"/>
              </a:rPr>
              <a:t>Hold Duran. Decide in the winter.  </a:t>
            </a:r>
            <a:r>
              <a:rPr sz="1350" b="0" i="0">
                <a:solidFill>
                  <a:srgbClr val="CDD4E2"/>
                </a:solidFill>
                <a:latin typeface="Arial"/>
              </a:rPr>
              <a:t>His value is at rock bottom while the underlying numbers say rebound. Buyers read xstats too; nobody pays 2024 prices in August 2026.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26364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1">
                <a:solidFill>
                  <a:srgbClr val="9AA6BC"/>
                </a:solidFill>
                <a:latin typeface="Arial"/>
              </a:rPr>
              <a:t>Every number on these slides regenerates from live data. Predictions frozen July 4 and July 26, graded in October, flattering or not.  </a:t>
            </a:r>
            <a:r>
              <a:rPr sz="1150" b="1" i="0">
                <a:solidFill>
                  <a:srgbClr val="E8615A"/>
                </a:solidFill>
                <a:latin typeface="Courier New"/>
              </a:rPr>
              <a:t>justinloo12.github.io/red-sox-trade-deadline-thoughts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