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566928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54864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BOSTON RED SOX  ·  TRADE DEADLINE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96596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F4F7FC"/>
                </a:solidFill>
                <a:latin typeface="Arial"/>
              </a:rPr>
              <a:t>Red Sox Trade Deadline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4600" b="1" i="0">
                <a:solidFill>
                  <a:srgbClr val="E8615A"/>
                </a:solidFill>
                <a:latin typeface="Arial"/>
              </a:rPr>
              <a:t>Thoughts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977639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700" b="0" i="0">
                <a:solidFill>
                  <a:srgbClr val="D3D9E6"/>
                </a:solidFill>
                <a:latin typeface="Arial"/>
              </a:rPr>
              <a:t>After an incredible push, the Sox are in a position to be buyers before this trade deadline. A breakdown of our new acquisition, Curtis Mead, and what else the Sox need to do for a deep playoff run. 8 days to August 3.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0350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 i="1">
                <a:solidFill>
                  <a:srgbClr val="8C97AC"/>
                </a:solidFill>
                <a:latin typeface="Arial"/>
              </a:rPr>
              <a:t>A data-driven roster case study ·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 contender by run differential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8615A"/>
                </a:solidFill>
                <a:latin typeface="Arial"/>
              </a:rPr>
              <a:t>53-50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holding the final wild card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08576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+41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26864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run differential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outplaying their .515 record all season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1874519"/>
            <a:ext cx="3502152" cy="21488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1" y="2084831"/>
            <a:ext cx="304495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400" b="1" i="0">
                <a:solidFill>
                  <a:srgbClr val="EAF0F8"/>
                </a:solidFill>
                <a:latin typeface="Arial"/>
              </a:rPr>
              <a:t>77%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2999232"/>
            <a:ext cx="299923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1" i="0">
                <a:solidFill>
                  <a:srgbClr val="EAF0F8"/>
                </a:solidFill>
                <a:latin typeface="Arial"/>
              </a:rPr>
              <a:t>playoff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46704"/>
            <a:ext cx="2999232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0" i="0">
                <a:solidFill>
                  <a:srgbClr val="93A0B6"/>
                </a:solidFill>
                <a:latin typeface="Arial"/>
              </a:rPr>
              <a:t>10,000 sims of the rest of the season (fig. 12)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343400"/>
            <a:ext cx="110642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500" b="1" i="0">
                <a:solidFill>
                  <a:srgbClr val="D9E1EF"/>
                </a:solidFill>
                <a:latin typeface="Arial"/>
              </a:rPr>
              <a:t>A month ago the easy take was sell. </a:t>
            </a:r>
            <a:r>
              <a:rPr sz="1500" b="0" i="0">
                <a:solidFill>
                  <a:srgbClr val="D9E1EF"/>
                </a:solidFill>
                <a:latin typeface="Arial"/>
              </a:rPr>
              <a:t>The outfield jam, still </a:t>
            </a:r>
            <a:r>
              <a:rPr sz="1500" b="1" i="0">
                <a:solidFill>
                  <a:srgbClr val="E8615A"/>
                </a:solidFill>
                <a:latin typeface="Arial"/>
              </a:rPr>
              <a:t>masked by Roman Anthony's injury</a:t>
            </a:r>
            <a:r>
              <a:rPr sz="1500" b="0" i="0">
                <a:solidFill>
                  <a:srgbClr val="D9E1EF"/>
                </a:solidFill>
                <a:latin typeface="Arial"/>
              </a:rPr>
              <a:t>, is now a buyer's depth chart: the surplus funds the deadline instead of a teardown.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VERDICT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Buy, but keep it small</a:t>
            </a:r>
          </a:p>
        </p:txBody>
      </p:sp>
      <p:pic>
        <p:nvPicPr>
          <p:cNvPr id="4" name="Picture 3" descr="12_playoff_r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113" y="1554480"/>
            <a:ext cx="6752492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81965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8308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Hold Duran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31455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310896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Keep the vets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Gray, Chapman, Contreras should not be sold now. Sell branch reopens only if the gap blows out by Aug 1.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47141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4434840"/>
            <a:ext cx="374903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450" b="1" i="0">
                <a:solidFill>
                  <a:srgbClr val="EAF0F8"/>
                </a:solidFill>
                <a:latin typeface="Arial"/>
              </a:rPr>
              <a:t>Don't disturb the clubhouse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200" b="0" i="0">
                <a:solidFill>
                  <a:srgbClr val="93A0B6"/>
                </a:solidFill>
                <a:latin typeface="Arial"/>
              </a:rPr>
              <a:t>Back-end starter, reliever, RHH.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KEEP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young, cheap, controllable outfield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7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Roman Anthony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7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LF · age 22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$2.6M · 8yr/$130M 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Franchise bat. Untouchable. On the IL now, back in 2027.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52544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6864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Ceddanne Rafaela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6864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CF · age 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6864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3.2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6864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$2.0M · 8yr/$50M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Elite center-field glove + SS/utility flex. Premium position, controlled cheap.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783080"/>
            <a:ext cx="3502152" cy="356616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011680"/>
            <a:ext cx="299923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900" b="1" i="0">
                <a:solidFill>
                  <a:srgbClr val="EAF0F8"/>
                </a:solidFill>
                <a:latin typeface="Arial"/>
              </a:rPr>
              <a:t>Wilyer Abreu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487168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E8615A"/>
                </a:solidFill>
                <a:latin typeface="Arial"/>
              </a:rPr>
              <a:t>RF · age 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971800"/>
            <a:ext cx="2999232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000" b="1" i="0">
                <a:solidFill>
                  <a:srgbClr val="58C08D"/>
                </a:solidFill>
                <a:latin typeface="Arial"/>
              </a:rPr>
              <a:t>2.8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822191"/>
            <a:ext cx="29992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93A0B6"/>
                </a:solidFill>
                <a:latin typeface="Arial"/>
              </a:rPr>
              <a:t>projected WAR / yr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4160520"/>
            <a:ext cx="29992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D9E1EF"/>
                </a:solidFill>
                <a:latin typeface="Arial"/>
              </a:rPr>
              <a:t>$0.8M · pre-arb → 2029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526280"/>
            <a:ext cx="2999232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Best surplus on the roster: plus RF glove, above-average LH bat.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53212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 i="1">
                <a:solidFill>
                  <a:srgbClr val="EAF0F8"/>
                </a:solidFill>
                <a:latin typeface="Arial"/>
              </a:rPr>
              <a:t>Three spots, locked. Everything else flexes around them.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MOVE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4th Outfield Spot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59536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Jarren Duran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E8615A"/>
                </a:solidFill>
                <a:latin typeface="Arial"/>
              </a:rPr>
              <a:t>LF/CF · 29 · $7.7M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59536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Movable piece.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Controllable through 2028; above-average at true talent (~110 wRC+). Redundant behind the core and the priciest of the young group.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Hold at the deadline.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Duran has had a miserable season, but his underlying numbers are better than they seem. Positive regression candidate. Let him build up his value and flip in the offseason.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5358384" cy="361188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2029968"/>
            <a:ext cx="480974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Masataka Yoshida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2542032"/>
            <a:ext cx="4809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93A0B6"/>
                </a:solidFill>
                <a:latin typeface="Arial"/>
              </a:rPr>
              <a:t>DH · 32 · $18.6M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19672" y="3108960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57416" y="3063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The contract, not the bat.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He's hitting: above-average wRC+, .340-class OBP, one of MLB's lowest strikeout rates. $18.6M for a DH with below-average pop is still underwater as an asset.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19672" y="4251959"/>
            <a:ext cx="118872" cy="118872"/>
          </a:xfrm>
          <a:prstGeom prst="roundRect">
            <a:avLst>
              <a:gd name="adj" fmla="val 18000"/>
            </a:avLst>
          </a:prstGeom>
          <a:solidFill>
            <a:srgbClr val="93A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57416" y="4206240"/>
            <a:ext cx="4489704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400"/>
              </a:spcAft>
            </a:pPr>
            <a:r>
              <a:rPr sz="1350" b="1" i="0">
                <a:solidFill>
                  <a:srgbClr val="D9E1EF"/>
                </a:solidFill>
                <a:latin typeface="Arial"/>
              </a:rPr>
              <a:t>Keep him in the lineup. </a:t>
            </a:r>
            <a:r>
              <a:rPr sz="1300" b="0" i="0">
                <a:solidFill>
                  <a:srgbClr val="93A0B6"/>
                </a:solidFill>
                <a:latin typeface="Arial"/>
              </a:rPr>
              <a:t>Gonzalez covers the tougher lefties. Platoon the DH spot and let it ride.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2356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1" i="1">
                <a:solidFill>
                  <a:srgbClr val="E3B14E"/>
                </a:solidFill>
                <a:latin typeface="Arial"/>
              </a:rPr>
              <a:t>With Roman's status up in the air, hold both outfielders through this season.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DON'T SELL 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Duran's 2026 is unlucky</a:t>
            </a:r>
          </a:p>
        </p:txBody>
      </p:sp>
      <p:pic>
        <p:nvPicPr>
          <p:cNvPr id="4" name="Picture 3" descr="01_babip_vs_lea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00200"/>
            <a:ext cx="6309360" cy="372237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040880" y="170078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33488" y="1664208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2024 was more what we should expect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BABIP .344 vs xBABIP .333; xwOBA .340 legit. Legs are still there, and defense is definitely improved.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040880" y="2761488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2724912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2026 is the real anomaly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wOBA .263 BELOW its .293 xwOBA, 34 to 43 pts under his own norm; BABIP .238 vs .309 expected.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0" y="3822191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33488" y="3785615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legs are fine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Speed, baserunning and fielding all still plus. No injury.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488289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33488" y="4846320"/>
            <a:ext cx="4572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True talent ≈ his 2025 (~110 wRC+)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An above-average regular. The 2024 high and 2026 low are tails around that plateau.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593445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250" b="1" i="1">
                <a:solidFill>
                  <a:srgbClr val="E8615A"/>
                </a:solidFill>
                <a:latin typeface="Arial"/>
              </a:rPr>
              <a:t>Wait for the rebound.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REBOUND MATH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rebound is likely for Duran</a:t>
            </a:r>
          </a:p>
        </p:txBody>
      </p:sp>
      <p:pic>
        <p:nvPicPr>
          <p:cNvPr id="4" name="Picture 3" descr="09_rebound_prob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589520" cy="32548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P(REST-OF-SEASON wRC+ ≥ 100)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965960"/>
            <a:ext cx="33832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58C08D"/>
                </a:solidFill>
                <a:latin typeface="Arial"/>
              </a:rPr>
              <a:t>69%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healthy prior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3400" b="1" i="0">
                <a:solidFill>
                  <a:srgbClr val="E8615A"/>
                </a:solidFill>
                <a:latin typeface="Arial"/>
              </a:rPr>
              <a:t>47%</a:t>
            </a:r>
            <a:r>
              <a:rPr sz="1250" b="0" i="0">
                <a:solidFill>
                  <a:srgbClr val="93A0B6"/>
                </a:solidFill>
                <a:latin typeface="Arial"/>
              </a:rPr>
              <a:t>  erosion-blended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0" y="3520440"/>
            <a:ext cx="3383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50" b="1" i="0">
                <a:solidFill>
                  <a:srgbClr val="93A0B6"/>
                </a:solidFill>
                <a:latin typeface="Arial"/>
              </a:rPr>
              <a:t>EXPECTED OFFSEASON TRADE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840480"/>
            <a:ext cx="3383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i="0">
                <a:solidFill>
                  <a:srgbClr val="EAF0F8"/>
                </a:solidFill>
                <a:latin typeface="Arial"/>
              </a:rPr>
              <a:t>$22M</a:t>
            </a:r>
            <a:r>
              <a:rPr sz="1300" b="0" i="0">
                <a:solidFill>
                  <a:srgbClr val="93A0B6"/>
                </a:solidFill>
                <a:latin typeface="Arial"/>
              </a:rPr>
              <a:t> vs </a:t>
            </a:r>
            <a:r>
              <a:rPr sz="2400" b="1" i="0">
                <a:solidFill>
                  <a:srgbClr val="EAF0F8"/>
                </a:solidFill>
                <a:latin typeface="Arial"/>
              </a:rPr>
              <a:t>$18M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 i="0">
                <a:solidFill>
                  <a:srgbClr val="93A0B6"/>
                </a:solidFill>
                <a:latin typeface="Arial"/>
              </a:rPr>
              <a:t>either way, well above the ~$10M a July sale fetches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6235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1" i="0">
                <a:solidFill>
                  <a:srgbClr val="E8615A"/>
                </a:solidFill>
                <a:latin typeface="Arial"/>
              </a:rPr>
              <a:t>The honest line: </a:t>
            </a:r>
            <a:r>
              <a:rPr sz="1350" b="0" i="0">
                <a:solidFill>
                  <a:srgbClr val="D9E1EF"/>
                </a:solidFill>
                <a:latin typeface="Arial"/>
              </a:rPr>
              <a:t>the 22-point probability gap is the price of the worse chase / whiff / hard-hit rates. Hold-through-2026 survives the erosion stress test, but with less confidence in the rebound narrative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TIEBREAKER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Swing Stats</a:t>
            </a:r>
          </a:p>
        </p:txBody>
      </p:sp>
      <p:pic>
        <p:nvPicPr>
          <p:cNvPr id="4" name="Picture 3" descr="10_erosion_decom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5538" y="1554480"/>
            <a:ext cx="9117874" cy="2926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58C08D"/>
                </a:solidFill>
                <a:latin typeface="Arial"/>
              </a:rPr>
              <a:t>74.5 mph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avg bat speed 2026, up from 72.7 in '24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Duran is swinging harder, longer and steeper than ever.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90288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8615A"/>
                </a:solidFill>
                <a:latin typeface="Arial"/>
              </a:rPr>
              <a:t>29% whiff vs 95+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up from 16% in '24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90288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Whiffs on a rising bat speed. Breaking-ball chase actually improved, the problem is on velocity.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59" y="4617720"/>
            <a:ext cx="3502152" cy="169164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3" y="4754880"/>
            <a:ext cx="3044952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100" b="1" i="0">
                <a:solidFill>
                  <a:srgbClr val="EAF0F8"/>
                </a:solidFill>
                <a:latin typeface="Arial"/>
              </a:rPr>
              <a:t>60 / 40</a:t>
            </a:r>
            <a:r>
              <a:rPr sz="1050" b="0" i="0">
                <a:solidFill>
                  <a:srgbClr val="93A0B6"/>
                </a:solidFill>
                <a:latin typeface="Arial"/>
              </a:rPr>
              <a:t>  re-weighted scenario odds → 60% rebound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3" y="5285232"/>
            <a:ext cx="304495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400"/>
              </a:spcAft>
            </a:pPr>
            <a:r>
              <a:rPr sz="1080" b="0" i="0">
                <a:solidFill>
                  <a:srgbClr val="D9E1EF"/>
                </a:solidFill>
                <a:latin typeface="Arial"/>
              </a:rPr>
              <a:t>Approach is fixable (see his own 2022→23 chase overhaul); the tools a buyer prices are intact.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Aging doesn't explain the drop</a:t>
            </a:r>
          </a:p>
        </p:txBody>
      </p:sp>
      <p:pic>
        <p:nvPicPr>
          <p:cNvPr id="4" name="Picture 3" descr="04_age_curve_overl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8920" y="1508760"/>
            <a:ext cx="6629400" cy="39231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580644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400" b="0" i="0">
                <a:solidFill>
                  <a:srgbClr val="D9E1EF"/>
                </a:solidFill>
                <a:latin typeface="Arial"/>
              </a:rPr>
              <a:t>2024 → 2026 wRC+ fell ~70 points; a normal age 27→29 curve predicts only ~7. </a:t>
            </a:r>
            <a:r>
              <a:rPr sz="1400" b="1" i="0">
                <a:solidFill>
                  <a:srgbClr val="EAF0F8"/>
                </a:solidFill>
                <a:latin typeface="Arial"/>
              </a:rPr>
              <a:t>The gap is mean-reversion from an inflated peak plus a 2026 bad-luck tail, not a skill cliff.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IF THEY BUY, WHERE?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 roster's biggest hole is the Duran slump itself</a:t>
            </a:r>
          </a:p>
        </p:txBody>
      </p:sp>
      <p:pic>
        <p:nvPicPr>
          <p:cNvPr id="4" name="Picture 3" descr="13_positional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189" y="1554480"/>
            <a:ext cx="6816340" cy="42062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LF −31: internal fix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Duran's regression, now sheltered by a Jahmai Jones platoon, plus Anthony's eventual return. Free.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SS −18: the true target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One controllable infield stabilizer is the only lineup trade that fits the odds.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Bullpen: quiet weakness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ERA top-10 but FIP and reliever WAR rank far worse, it will regress without help.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Contreras twist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winter's reported sell candidate is now their best hitter. Moving him would be met with outrage.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SUPPORTING CAST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Career years everywhere. Could mean regression</a:t>
            </a:r>
          </a:p>
        </p:txBody>
      </p:sp>
      <p:pic>
        <p:nvPicPr>
          <p:cNvPr id="4" name="Picture 3" descr="17_aaaa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0200"/>
            <a:ext cx="7315200" cy="3546849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15 AAAA contributors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Waiver claims, up-down arms and career minor-leaguers holding real roles, +3.4 WAR combined.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4 career bests, 4 rookies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Most of the vets are beating every season they've ever had; the rookies have no baseline at all.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History backs the fade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2016-25, 100 hitter and 198 reliever cases like these: the median journeyman kept only 39% of a career-best first half (fig. 20).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Buy Buy Buy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Pick up a seasoned reliever and a right-handed hitter.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CHEMISTRY VETO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Don't Mess Up The Pitching Staff</a:t>
            </a:r>
          </a:p>
        </p:txBody>
      </p:sp>
      <p:pic>
        <p:nvPicPr>
          <p:cNvPr id="4" name="Picture 3" descr="14_batter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7315200" cy="3556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staff works with both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3.42 RA9 with Wong, 4.20 with Narváez, the run-prevention core of the season.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Every arm has a guy. Don't mess with that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Gray / Wong. Bennett / Narvaez. Settled, deliberate assignments across the rotation.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So: no catcher trade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adjusted model (pitcher/opponent/park controls) finds no significant catcher effect: -31 pts, 95% CI [-84, +21]. Nothing here for a trade to fix.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MENU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Three trades that fit, and one walk-away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58C08D"/>
                </a:solidFill>
                <a:latin typeface="Arial"/>
              </a:rPr>
              <a:t>1 · THE PEN FIX · DO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RHP Luke Weaver (NYM)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a 45 FV + 40 FV, prospects only, nobody loses a job or an inning. Elite relief year, signed through '27. The highest-probability marginal win on the board.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7064" y="169164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83096" y="1856232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AF0F8"/>
                </a:solidFill>
                <a:latin typeface="Arial"/>
              </a:rPr>
              <a:t>2 · THE STABILIZER · IF THE PRICE HOLDS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83096" y="214884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2B Luis Arraez (SFG)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83096" y="256032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Brayan Bello, the first deal that touches the active roster. Zero prospect cost; Arraez fills a patchwork platoon spot, not a hot regular's.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8615A"/>
                </a:solidFill>
                <a:latin typeface="Arial"/>
              </a:rPr>
              <a:t>3 · THE BIG SWING · PROBABLY WAIT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SS Zach Neto (LAA)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For Tolle + Bennett + a 45 FV: two arms out of a winning rotation midseason. Right for the franchise window, and still there in the winter. Controlled through 2029.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27064" y="3886200"/>
            <a:ext cx="5358384" cy="1938528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83096" y="4050791"/>
            <a:ext cx="485546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 i="0">
                <a:solidFill>
                  <a:srgbClr val="E3B14E"/>
                </a:solidFill>
                <a:latin typeface="Arial"/>
              </a:rPr>
              <a:t>✗ · THE WALK-AWAY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4343400"/>
            <a:ext cx="48554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50" b="1" i="0">
                <a:solidFill>
                  <a:srgbClr val="EAF0F8"/>
                </a:solidFill>
                <a:latin typeface="Arial"/>
              </a:rPr>
              <a:t>C Shea Langeliers (ATH)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754880"/>
            <a:ext cx="485546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value math worked; the battery map is the veto. No August bat is worth resetting eight pitcher-catcher pairings on a staff carrying the season.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89788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D9E1EF"/>
                </a:solidFill>
                <a:latin typeface="Arial"/>
              </a:rPr>
              <a:t>A menu, not a plan, Boston can afford about two. </a:t>
            </a:r>
            <a:r>
              <a:rPr sz="1250" b="0" i="0">
                <a:solidFill>
                  <a:srgbClr val="93A0B6"/>
                </a:solidFill>
                <a:latin typeface="Arial"/>
              </a:rPr>
              <a:t>Full value math and verified contracts in the mock-trades memo. Hypotheticals, not reporting.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REAL TRADE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They made one: Mead for Early</a:t>
            </a:r>
          </a:p>
        </p:txBody>
      </p:sp>
      <p:pic>
        <p:nvPicPr>
          <p:cNvPr id="4" name="Picture 3" descr="19_mead_fen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640" y="1481328"/>
            <a:ext cx="6401438" cy="4572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8001000" y="1773936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93608" y="1737360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deal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Curtis Mead (25) from Washington for Connelly Early: one surplus arm for a 134 wRC+ infield bat with years of club control.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889504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93608" y="2852928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The Fenway fit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23% pull-air rate, 82nd percentile, with a .846 wOBA on pulled air balls. RHB pull-air plays to the Monster.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005072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93608" y="3968496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Earned, mostly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.376 wOBA against a .359 xwOBA, so the breakout has contact quality behind it. The flag: 488 PA of .617 OPS before this year.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5120640"/>
            <a:ext cx="146304" cy="146304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93608" y="5084064"/>
            <a:ext cx="374903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350" b="1" i="0">
                <a:solidFill>
                  <a:srgbClr val="EAF0F8"/>
                </a:solidFill>
                <a:latin typeface="Arial"/>
              </a:rPr>
              <a:t>Menu grade</a:t>
            </a:r>
          </a:p>
          <a:p>
            <a:pPr algn="l">
              <a:lnSpc>
                <a:spcPct val="107000"/>
              </a:lnSpc>
              <a:spcAft>
                <a:spcPts val="200"/>
              </a:spcAft>
            </a:pPr>
            <a:r>
              <a:rPr sz="1160" b="0" i="0">
                <a:solidFill>
                  <a:srgbClr val="93A0B6"/>
                </a:solidFill>
                <a:latin typeface="Arial"/>
              </a:rPr>
              <a:t>The big-swing shape at half the price, and the infield hole filled. The pen fix is still open, 8 days left.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WINTER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Spend the pitching surplus on offense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450" b="0" i="0">
                <a:solidFill>
                  <a:srgbClr val="D9E1EF"/>
                </a:solidFill>
                <a:latin typeface="Arial"/>
              </a:rPr>
              <a:t>If winter comes and Duran's rebound has shown up, this is what a deal should return. With a top-6 rotation (3.65 ERA) carrying the club, trading bats for arms is backwards, convert the outfield surplus into what's thin: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58C0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7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Controllable bats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Young, cost-controlled position players to fix an inconsistent lineup and lengthen it around the 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626864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Best talent / upside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In a retool you take the best player, not the positional patch, prospects and MLB-ready youth over rentals.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59" y="2468880"/>
            <a:ext cx="3502152" cy="2514600"/>
          </a:xfrm>
          <a:prstGeom prst="roundRect">
            <a:avLst>
              <a:gd name="adj" fmla="val 6000"/>
            </a:avLst>
          </a:prstGeom>
          <a:solidFill>
            <a:srgbClr val="121E33"/>
          </a:solidFill>
          <a:ln w="12700">
            <a:solidFill>
              <a:srgbClr val="263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12480" y="2724912"/>
            <a:ext cx="384048" cy="384048"/>
          </a:xfrm>
          <a:prstGeom prst="roundRect">
            <a:avLst>
              <a:gd name="adj" fmla="val 18000"/>
            </a:avLst>
          </a:prstGeom>
          <a:solidFill>
            <a:srgbClr val="E3B1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3310128"/>
            <a:ext cx="299923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 i="0">
                <a:solidFill>
                  <a:srgbClr val="EAF0F8"/>
                </a:solidFill>
                <a:latin typeface="Arial"/>
              </a:rPr>
              <a:t>Salary relief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3767328"/>
            <a:ext cx="2999232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280" b="0" i="0">
                <a:solidFill>
                  <a:srgbClr val="93A0B6"/>
                </a:solidFill>
                <a:latin typeface="Arial"/>
              </a:rPr>
              <a:t>Attach Yoshida money where possible; free payroll for the 2027 window.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2578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 i="1">
                <a:solidFill>
                  <a:srgbClr val="EAF0F8"/>
                </a:solidFill>
                <a:latin typeface="Arial"/>
              </a:rPr>
              <a:t>Keep the arms. Cash the outfield. </a:t>
            </a:r>
            <a:r>
              <a:rPr sz="1400" b="0" i="1">
                <a:solidFill>
                  <a:srgbClr val="93A0B6"/>
                </a:solidFill>
                <a:latin typeface="Arial"/>
              </a:rPr>
              <a:t>Build the 2027 lineup, don't rent the 2026 one.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 i="0">
                <a:solidFill>
                  <a:srgbClr val="E8615A"/>
                </a:solidFill>
                <a:latin typeface="Courier New"/>
              </a:rPr>
              <a:t>// THE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 i="0">
                <a:solidFill>
                  <a:srgbClr val="EAF0F8"/>
                </a:solidFill>
                <a:latin typeface="Arial"/>
              </a:rPr>
              <a:t>Buy now, decide on Duran in the winter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01368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783080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At the deadline: buy targeted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 controllable infield bat and a reliever, funded from the pitching surplus. Keep the vets, they're playoff innings now.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71800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953512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Hold Duran through August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His value is at its nadir and his July contact quality (~.35 xwOBA) is already surging. Selling now cashes the slump.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42231"/>
            <a:ext cx="457200" cy="457200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0B1220"/>
                </a:solidFill>
                <a:latin typeface="Courier New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123944"/>
            <a:ext cx="6126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700" b="1" i="0">
                <a:solidFill>
                  <a:srgbClr val="EAF0F8"/>
                </a:solidFill>
                <a:latin typeface="Arial"/>
              </a:rPr>
              <a:t>Winter: re-price, then choose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350" b="0" i="0">
                <a:solidFill>
                  <a:srgbClr val="93A0B6"/>
                </a:solidFill>
                <a:latin typeface="Arial"/>
              </a:rPr>
              <a:t>Anthony healthy, jam returns. Rebound confirmed → extend or trade at full price. Erosion persists → sell at market. Either way, the 2027 OF is Anthony / Rafaela / Abreu.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18120" y="1783080"/>
            <a:ext cx="3794760" cy="3337560"/>
          </a:xfrm>
          <a:prstGeom prst="roundRect">
            <a:avLst>
              <a:gd name="adj" fmla="val 6000"/>
            </a:avLst>
          </a:prstGeom>
          <a:solidFill>
            <a:srgbClr val="1A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92440" y="201168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50" b="1" i="0">
                <a:solidFill>
                  <a:srgbClr val="C9D2E3"/>
                </a:solidFill>
                <a:latin typeface="Arial"/>
              </a:rPr>
              <a:t>THE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2440" y="2487168"/>
            <a:ext cx="3291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F0B8BC"/>
                </a:solidFill>
                <a:latin typeface="Arial"/>
              </a:rPr>
              <a:t>Sell now (nadir)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~$10–15M · a 45-FV bat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5204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 i="0">
                <a:solidFill>
                  <a:srgbClr val="A9E5B5"/>
                </a:solidFill>
                <a:latin typeface="Arial"/>
              </a:rPr>
              <a:t>Sell after rebound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~$28M · a 50-FV, top-100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 i="0">
                <a:solidFill>
                  <a:srgbClr val="F4F7FC"/>
                </a:solidFill>
                <a:latin typeface="Arial"/>
              </a:rPr>
              <a:t>controllable talent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2440" y="4617720"/>
            <a:ext cx="3291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150" b="0" i="1">
                <a:solidFill>
                  <a:srgbClr val="C9D2E3"/>
                </a:solidFill>
                <a:latin typeface="Arial"/>
              </a:rPr>
              <a:t>One grade of return = the reason to wait.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510528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1" i="0">
                <a:solidFill>
                  <a:srgbClr val="E8615A"/>
                </a:solidFill>
                <a:latin typeface="Courier New"/>
              </a:rPr>
              <a:t>BOS // OUTFIELD STRATEGY</a:t>
            </a:r>
            <a:r>
              <a:rPr sz="800" b="0" i="0">
                <a:solidFill>
                  <a:srgbClr val="5E6B84"/>
                </a:solidFill>
                <a:latin typeface="Courier New"/>
              </a:rPr>
              <a:t>   STATCAST / FANGRAPHS / MLB STATS API / SPOTRAC · JULY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83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66928" y="640080"/>
            <a:ext cx="310896" cy="310896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621792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300" b="1" i="0">
                <a:solidFill>
                  <a:srgbClr val="C9D2E3"/>
                </a:solidFill>
                <a:latin typeface="Arial"/>
              </a:rPr>
              <a:t>BOTTOM LINE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37943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783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Play the hand.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77% playoff odds, +41 run differential, a wild card in hand, buy small (a reliever first), keep the vets, and let the record keep catching up to the process.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07238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01752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Cash the surplus, not the slump.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Hold Duran through the deadline; re-price him in winter, extend or trade the 2025 player, never the unlucky 2026 one.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06824"/>
            <a:ext cx="164592" cy="164592"/>
          </a:xfrm>
          <a:prstGeom prst="roundRect">
            <a:avLst>
              <a:gd name="adj" fmla="val 18000"/>
            </a:avLst>
          </a:prstGeom>
          <a:solidFill>
            <a:srgbClr val="E861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425196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100" b="1" i="0">
                <a:solidFill>
                  <a:srgbClr val="F4F7FC"/>
                </a:solidFill>
                <a:latin typeface="Arial"/>
              </a:rPr>
              <a:t>Stop fighting the Yoshida deal.  </a:t>
            </a:r>
            <a:r>
              <a:rPr sz="1500" b="0" i="0">
                <a:solidFill>
                  <a:srgbClr val="CDD4E2"/>
                </a:solidFill>
                <a:latin typeface="Arial"/>
              </a:rPr>
              <a:t>The bat is back to average or better; absorb the contract and let it expire.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1" i="0">
                <a:solidFill>
                  <a:srgbClr val="9AA6BC"/>
                </a:solidFill>
                <a:latin typeface="Arial"/>
              </a:rPr>
              <a:t>Confidence: </a:t>
            </a:r>
            <a:r>
              <a:rPr sz="1250" b="0" i="1">
                <a:solidFill>
                  <a:srgbClr val="9AA6BC"/>
                </a:solidFill>
                <a:latin typeface="Arial"/>
              </a:rPr>
              <a:t>high that 2024 shouldn't be the anchor and pitching is a strength; the open question is how much of 2026's skill dip (chase, whiff, hard-hit are all worse) persists, the one thing to watch before selling.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